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42fd787b-08e1-3d30-6221-6e4857541a0e}">
          <p14:sldIdLst>
            <p14:sldId id="256"/>
            <p14:sldId id="257"/>
            <p14:sldId id="258"/>
          </p14:sldIdLst>
        </p14:section>
        <p14:section name="Le village" id="{3fb13c7a-346f-8492-1475-826990885b4e}">
          <p14:sldIdLst>
            <p14:sldId id="259"/>
            <p14:sldId id="260"/>
            <p14:sldId id="261"/>
            <p14:sldId id="262"/>
            <p14:sldId id="263"/>
          </p14:sldIdLst>
        </p14:section>
        <p14:section name="Cadre scientifique" id="{f984bb05-f5fb-46e9-dc63-e6945ebf8286}">
          <p14:sldIdLst>
            <p14:sldId id="264"/>
            <p14:sldId id="265"/>
            <p14:sldId id="266"/>
            <p14:sldId id="267"/>
            <p14:sldId id="268"/>
          </p14:sldIdLst>
        </p14:section>
        <p14:section name="Dire et taire" id="{cfae3aa5-7d47-75d5-a59c-912f942f67f3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Socle technique" id="{959a38be-88cf-accc-7755-59cb302a4478}">
          <p14:sldIdLst>
            <p14:sldId id="276"/>
            <p14:sldId id="277"/>
            <p14:sldId id="278"/>
            <p14:sldId id="279"/>
          </p14:sldIdLst>
        </p14:section>
        <p14:section name="Suite" id="{a27f047f-3aad-31de-f471-4cc827faa715}">
          <p14:sldIdLst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31A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31A2E"/>
                </a:solidFill>
                <a:latin typeface="+mn-lt"/>
              </a:rPr>
              <a:t>Nombre de simulations de 15 journées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Simulations</c:v>
                </c:pt>
              </c:strCache>
            </c:strRef>
          </c:tx>
          <c:spPr>
            <a:solidFill>
              <a:srgbClr val="6E4C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3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Priorité 1 : questions centrales</c:v>
                  </c:pt>
                  <c:pt idx="1">
                    <c:v>Priorité 2 : comparaisons</c:v>
                  </c:pt>
                  <c:pt idx="2">
                    <c:v>Priorité 3 : exploratoire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22</c:v>
                </c:pt>
                <c:pt idx="2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3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4A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d'ensemble du projet : l'histoire, le dispositif, le cadre scientifique et le socle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fil rouge : une contrepartie (documenter), une idée (le village), une question de SIC (le dire et le taire).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: présentation de Mistral et presse spécialisée (Next, octobre 2026). Les chiffres sont ceux du fournisseur.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Séparer l'ordonnanceur (code) du narrateur (modèle) est une décision issue de la revue adversariale : elle distingue le dispositif de l'architexte.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L'enquête du soir est un instrument de mesure : la garder hors de la mémoire évite que la mesure contamine l'expérience.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C4 est le cœur du projet ; les autres expériences valident le dispositif et fournissent des points de comparaison.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automatique et humain des biographies, fiche de documentation publiée sur le modèle des Datasheets for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Distinction de Davallon entre objet concret, objet scientifique et objet de recherche ; suffisance générative (Epstein) contre plausibilité des mécanismes.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Forme « Comment X alors que Y ». Questions de recherche : transformations (QR1), part de l'architexte et du dispositif (QR2), conception implicite de la communication (QR3), dire et taire (QR4).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chaque concept emprunté, le cadre précise ce qui est adapté et ce qui est perdu (par exemple, chez Hall, la position sociale n'existe ici que comme attribut écrit).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niveau a son corpus, ses concepts, sa méthode et ses indicateurs. La fidélité à la source est une lentille parmi d'autres.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Théorie mobilisée : la spirale du silence de Noelle-Neumann. On n'injecte aucune lecture du présent ; les analogies sont observées, jamais suggérées.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silence se mesure sur des sollicitations standardisées et se compare à la ligne de base S0. L'écart entre déclaré et exprimé est un écart entre cadres d'énonciation.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spirale reproduite n'est pas une spirale expliquée. Les trois mécanismes peuvent coexister : l'analyse estime la part de chacun.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nombre de graines est fixé après un pilote qui estime la variance. Étapes préalables peu coûteuses : test sans public, dyades, chaînes de transmission.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Revue adversariale n° 1 : 23 objections, dont 5 bloquantes, toutes traitées dans les documents révisés.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problèmes ouverts en SHS choisis parce qu'ils disposent de vérificateurs : citations vérifiées et tests de conformité pour l'un, code reproductible et chiffres officiels de l'OCDE pour l'autre.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LiteLLM remplace avantageusement OpenRouter : gratuit, local, les clés ne sortent pas de la station. Chaque appel peut porter le nom de l'agent et l'identifiant de l'essai.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Développé en pixel art avec Phaser et des décors libres de droits (Kenney, CC0). Inspirations : Pixel Agents et AI Town. Les données viennent du passe-plat et du flux d'événements d'OpenCode.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Procédure détaillée pas à pas dans le document technico-fonctionnel du socle.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Calendrier indicatif, à ajuster selon les conditions de la clé et le pilote.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 vers la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23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6E4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Dire et taire · Expérimentation Le Chonk · JEDI-OpenLab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">
    <p:bg>
      <p:bgPr>
        <a:solidFill>
          <a:srgbClr val="23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Dire et taire · Expérimentation Le Chonk · JEDI-OpenLab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 et taire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Un village d'agents génératifs pour étudier la circulation d'un savoir savant</a:t>
            </a:r>
            <a:endParaRPr lang="en-US" sz="2200" dirty="0"/>
          </a:p>
        </p:txBody>
      </p:sp>
      <p:sp>
        <p:nvSpPr>
          <p:cNvPr id="4" name="sous-titre"/>
          <p:cNvSpPr txBox="1"/>
          <p:nvPr/>
        </p:nvSpPr>
        <p:spPr>
          <a:xfrm>
            <a:off x="73152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Expérimentation de Mistral Large 4 « Le Chonk » · Octobre 2026</a:t>
            </a:r>
            <a:endParaRPr lang="en-US" sz="1600" dirty="0"/>
          </a:p>
        </p:txBody>
      </p:sp>
      <p:sp>
        <p:nvSpPr>
          <p:cNvPr id="5" name="signature"/>
          <p:cNvSpPr txBox="1"/>
          <p:nvPr/>
        </p:nvSpPr>
        <p:spPr>
          <a:xfrm>
            <a:off x="731520" y="5532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JEDI-OpenLab · Centrale Lille</a:t>
            </a:r>
            <a:endParaRPr lang="en-US" sz="1600" dirty="0"/>
          </a:p>
        </p:txBody>
      </p:sp>
      <p:sp>
        <p:nvSpPr>
          <p:cNvPr id="6" name="bulle-1"/>
          <p:cNvSpPr/>
          <p:nvPr/>
        </p:nvSpPr>
        <p:spPr>
          <a:xfrm>
            <a:off x="9052560" y="64008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/>
        </p:spPr>
      </p:sp>
      <p:sp>
        <p:nvSpPr>
          <p:cNvPr id="7" name="bulle-1-pointe"/>
          <p:cNvSpPr/>
          <p:nvPr/>
        </p:nvSpPr>
        <p:spPr>
          <a:xfrm flipV="1">
            <a:off x="9418320" y="1463040"/>
            <a:ext cx="320040" cy="274320"/>
          </a:xfrm>
          <a:prstGeom prst="rtTriangle">
            <a:avLst/>
          </a:prstGeom>
          <a:solidFill>
            <a:srgbClr val="E8A33D"/>
          </a:solidFill>
          <a:ln/>
        </p:spPr>
      </p:sp>
      <p:sp>
        <p:nvSpPr>
          <p:cNvPr id="8" name="bulle-1-texte"/>
          <p:cNvSpPr txBox="1"/>
          <p:nvPr/>
        </p:nvSpPr>
        <p:spPr>
          <a:xfrm>
            <a:off x="9052560" y="640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« Vous l'avez lu ? »</a:t>
            </a:r>
            <a:endParaRPr lang="en-US" sz="1600" dirty="0"/>
          </a:p>
        </p:txBody>
      </p:sp>
      <p:sp>
        <p:nvSpPr>
          <p:cNvPr id="9" name="bulle-2"/>
          <p:cNvSpPr/>
          <p:nvPr/>
        </p:nvSpPr>
        <p:spPr>
          <a:xfrm>
            <a:off x="9875520" y="1920240"/>
            <a:ext cx="1737360" cy="685800"/>
          </a:xfrm>
          <a:prstGeom prst="roundRect">
            <a:avLst>
              <a:gd name="adj" fmla="val 16000"/>
            </a:avLst>
          </a:prstGeom>
          <a:solidFill>
            <a:srgbClr val="5A4A6E"/>
          </a:solidFill>
          <a:ln/>
        </p:spPr>
      </p:sp>
      <p:sp>
        <p:nvSpPr>
          <p:cNvPr id="10" name="bulle-2-texte"/>
          <p:cNvSpPr txBox="1"/>
          <p:nvPr/>
        </p:nvSpPr>
        <p:spPr>
          <a:xfrm>
            <a:off x="9875520" y="1920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…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L'histoire en trois temps</a:t>
            </a:r>
            <a:endParaRPr lang="en-US" sz="3600" dirty="0"/>
          </a:p>
        </p:txBody>
      </p:sp>
      <p:sp>
        <p:nvSpPr>
          <p:cNvPr id="3" name="pitch-carte-1"/>
          <p:cNvSpPr/>
          <p:nvPr/>
        </p:nvSpPr>
        <p:spPr>
          <a:xfrm>
            <a:off x="548640" y="14630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F2EEF6"/>
          </a:solidFill>
          <a:ln/>
        </p:spPr>
      </p:sp>
      <p:sp>
        <p:nvSpPr>
          <p:cNvPr id="4" name="pitch-1-cercle"/>
          <p:cNvSpPr/>
          <p:nvPr/>
        </p:nvSpPr>
        <p:spPr>
          <a:xfrm>
            <a:off x="868680" y="1783080"/>
            <a:ext cx="868680" cy="868680"/>
          </a:xfrm>
          <a:prstGeom prst="ellipse">
            <a:avLst/>
          </a:prstGeom>
          <a:solidFill>
            <a:srgbClr val="6E4C94"/>
          </a:solidFill>
          <a:ln/>
        </p:spPr>
      </p:sp>
      <p:pic>
        <p:nvPicPr>
          <p:cNvPr id="5" name="pitch-1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0025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0" y="17373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opportunité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290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Un accès à Le Chonk, le nouveau grand modèle de Mistral, en échange d'un retour d'expérience partagé avec la communauté.</a:t>
            </a:r>
            <a:endParaRPr lang="en-US" sz="1800" dirty="0"/>
          </a:p>
        </p:txBody>
      </p:sp>
      <p:sp>
        <p:nvSpPr>
          <p:cNvPr id="9" name="pitch-carte-2"/>
          <p:cNvSpPr/>
          <p:nvPr/>
        </p:nvSpPr>
        <p:spPr>
          <a:xfrm>
            <a:off x="4297680" y="14630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F2EEF6"/>
          </a:solidFill>
          <a:ln/>
        </p:spPr>
      </p:sp>
      <p:sp>
        <p:nvSpPr>
          <p:cNvPr id="10" name="pitch-2-cercle"/>
          <p:cNvSpPr/>
          <p:nvPr/>
        </p:nvSpPr>
        <p:spPr>
          <a:xfrm>
            <a:off x="4617720" y="1783080"/>
            <a:ext cx="868680" cy="868680"/>
          </a:xfrm>
          <a:prstGeom prst="ellipse">
            <a:avLst/>
          </a:prstGeom>
          <a:solidFill>
            <a:srgbClr val="6E4C94"/>
          </a:solidFill>
          <a:ln/>
        </p:spPr>
      </p:sp>
      <p:pic>
        <p:nvPicPr>
          <p:cNvPr id="11" name="pitch-2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00025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49440" y="17373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idée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4290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Plutôt que de lui faire écrire des cours, construire un village de 40 habitants-agents et observer comment l'information y circule.</a:t>
            </a:r>
            <a:endParaRPr lang="en-US" sz="1800" dirty="0"/>
          </a:p>
        </p:txBody>
      </p:sp>
      <p:sp>
        <p:nvSpPr>
          <p:cNvPr id="15" name="pitch-carte-3"/>
          <p:cNvSpPr/>
          <p:nvPr/>
        </p:nvSpPr>
        <p:spPr>
          <a:xfrm>
            <a:off x="8046720" y="14630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F2EEF6"/>
          </a:solidFill>
          <a:ln/>
        </p:spPr>
      </p:sp>
      <p:sp>
        <p:nvSpPr>
          <p:cNvPr id="16" name="pitch-3-cercle"/>
          <p:cNvSpPr/>
          <p:nvPr/>
        </p:nvSpPr>
        <p:spPr>
          <a:xfrm>
            <a:off x="8366760" y="1783080"/>
            <a:ext cx="868680" cy="868680"/>
          </a:xfrm>
          <a:prstGeom prst="ellipse">
            <a:avLst/>
          </a:prstGeom>
          <a:solidFill>
            <a:srgbClr val="6E4C94"/>
          </a:solidFill>
          <a:ln/>
        </p:spPr>
      </p:sp>
      <p:pic>
        <p:nvPicPr>
          <p:cNvPr id="17" name="pitch-3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00025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698480" y="17373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question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34290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Que devient un savoir savant quand des machines en parlent entre elles ? Qu'est-ce qui se dit, qu'est-ce qui se tait 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Le Chonk en quatre chiffres</a:t>
            </a:r>
            <a:endParaRPr lang="en-US" sz="3600" dirty="0"/>
          </a:p>
        </p:txBody>
      </p:sp>
      <p:sp>
        <p:nvSpPr>
          <p:cNvPr id="3" name="stat-1"/>
          <p:cNvSpPr/>
          <p:nvPr/>
        </p:nvSpPr>
        <p:spPr>
          <a:xfrm>
            <a:off x="548640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231A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28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1 050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milliards de paramètres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74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architecture à mélange d'experts</a:t>
            </a:r>
            <a:endParaRPr lang="en-US" sz="1400" dirty="0"/>
          </a:p>
        </p:txBody>
      </p:sp>
      <p:sp>
        <p:nvSpPr>
          <p:cNvPr id="7" name="stat-2"/>
          <p:cNvSpPr/>
          <p:nvPr/>
        </p:nvSpPr>
        <p:spPr>
          <a:xfrm>
            <a:off x="3383280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6E4C9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11880" y="1828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milliards actifs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474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par mot produit</a:t>
            </a:r>
            <a:endParaRPr lang="en-US" sz="1400" dirty="0"/>
          </a:p>
        </p:txBody>
      </p:sp>
      <p:sp>
        <p:nvSpPr>
          <p:cNvPr id="11" name="stat-3"/>
          <p:cNvSpPr/>
          <p:nvPr/>
        </p:nvSpPr>
        <p:spPr>
          <a:xfrm>
            <a:off x="6217920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231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1828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tokens de contexte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474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un livre entier en mémoire de travail</a:t>
            </a:r>
            <a:endParaRPr lang="en-US" sz="1400" dirty="0"/>
          </a:p>
        </p:txBody>
      </p:sp>
      <p:sp>
        <p:nvSpPr>
          <p:cNvPr id="15" name="stat-4"/>
          <p:cNvSpPr/>
          <p:nvPr/>
        </p:nvSpPr>
        <p:spPr>
          <a:xfrm>
            <a:off x="9052560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6E4C9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1828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oct.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version finale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3474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poids ouverts annoncés</a:t>
            </a:r>
            <a:endParaRPr lang="en-US" sz="1400" dirty="0"/>
          </a:p>
        </p:txBody>
      </p:sp>
      <p:sp>
        <p:nvSpPr>
          <p:cNvPr id="19" name="chiffres-reserve-cercle"/>
          <p:cNvSpPr/>
          <p:nvPr/>
        </p:nvSpPr>
        <p:spPr>
          <a:xfrm>
            <a:off x="548640" y="49834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chiffres-reserve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514350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371600" y="49834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Chiffres annoncés par Mistral, en préversion à l'automne 2026. Modèle réputé très verbeux : chaque appel sera plafonné et comparé aux six modèles d'ILaaS.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Saint-Aubert-sur-Lys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Un village fictif de 40 habitants, entièrement écrit par des modèles de langage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 fait quoi dans le village</a:t>
            </a:r>
            <a:endParaRPr lang="en-US" sz="3600" dirty="0"/>
          </a:p>
        </p:txBody>
      </p:sp>
      <p:sp>
        <p:nvSpPr>
          <p:cNvPr id="3" name="role-1"/>
          <p:cNvSpPr/>
          <p:nvPr/>
        </p:nvSpPr>
        <p:spPr>
          <a:xfrm>
            <a:off x="548640" y="14173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2EEF6"/>
          </a:solidFill>
          <a:ln/>
        </p:spPr>
      </p:sp>
      <p:sp>
        <p:nvSpPr>
          <p:cNvPr id="4" name="role-1-cercle"/>
          <p:cNvSpPr/>
          <p:nvPr/>
        </p:nvSpPr>
        <p:spPr>
          <a:xfrm>
            <a:off x="822960" y="1737360"/>
            <a:ext cx="914400" cy="914400"/>
          </a:xfrm>
          <a:prstGeom prst="ellipse">
            <a:avLst/>
          </a:prstGeom>
          <a:solidFill>
            <a:srgbClr val="6E4C94"/>
          </a:solidFill>
          <a:ln/>
        </p:spPr>
      </p:sp>
      <p:pic>
        <p:nvPicPr>
          <p:cNvPr id="5" name="role-1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737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habitants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2860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40 agents, chacun avec une fiche, une mémoire et des relations. Joués par des modèles d'ILaaS.</a:t>
            </a:r>
            <a:endParaRPr lang="en-US" sz="1600" dirty="0"/>
          </a:p>
        </p:txBody>
      </p:sp>
      <p:sp>
        <p:nvSpPr>
          <p:cNvPr id="8" name="role-2"/>
          <p:cNvSpPr/>
          <p:nvPr/>
        </p:nvSpPr>
        <p:spPr>
          <a:xfrm>
            <a:off x="6172200" y="14173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2EEF6"/>
          </a:solidFill>
          <a:ln/>
        </p:spPr>
      </p:sp>
      <p:sp>
        <p:nvSpPr>
          <p:cNvPr id="9" name="role-2-cercle"/>
          <p:cNvSpPr/>
          <p:nvPr/>
        </p:nvSpPr>
        <p:spPr>
          <a:xfrm>
            <a:off x="6446520" y="1737360"/>
            <a:ext cx="914400" cy="914400"/>
          </a:xfrm>
          <a:prstGeom prst="ellipse">
            <a:avLst/>
          </a:prstGeom>
          <a:solidFill>
            <a:srgbClr val="2F8F7F"/>
          </a:solidFill>
          <a:ln/>
        </p:spPr>
      </p:sp>
      <p:pic>
        <p:nvPicPr>
          <p:cNvPr id="10" name="role-2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9659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737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L'ordonnanceur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2860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Du code, pas une IA : il organise les rencontres et empêche quiconque de savoir ce qu'il n'a pas entendu.</a:t>
            </a:r>
            <a:endParaRPr lang="en-US" sz="1600" dirty="0"/>
          </a:p>
        </p:txBody>
      </p:sp>
      <p:sp>
        <p:nvSpPr>
          <p:cNvPr id="13" name="role-3"/>
          <p:cNvSpPr/>
          <p:nvPr/>
        </p:nvSpPr>
        <p:spPr>
          <a:xfrm>
            <a:off x="548640" y="379476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2EEF6"/>
          </a:solidFill>
          <a:ln/>
        </p:spPr>
      </p:sp>
      <p:sp>
        <p:nvSpPr>
          <p:cNvPr id="14" name="role-3-cercle"/>
          <p:cNvSpPr/>
          <p:nvPr/>
        </p:nvSpPr>
        <p:spPr>
          <a:xfrm>
            <a:off x="822960" y="411480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role-3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3434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6596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narrateur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1965960" y="466344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Un modèle de langage qui écrit uniquement les scènes : le café, le marché, la pluie.</a:t>
            </a:r>
            <a:endParaRPr lang="en-US" sz="1600" dirty="0"/>
          </a:p>
        </p:txBody>
      </p:sp>
      <p:sp>
        <p:nvSpPr>
          <p:cNvPr id="18" name="role-4"/>
          <p:cNvSpPr/>
          <p:nvPr/>
        </p:nvSpPr>
        <p:spPr>
          <a:xfrm>
            <a:off x="6172200" y="379476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2EEF6"/>
          </a:solidFill>
          <a:ln/>
        </p:spPr>
      </p:sp>
      <p:sp>
        <p:nvSpPr>
          <p:cNvPr id="19" name="role-4-cercle"/>
          <p:cNvSpPr/>
          <p:nvPr/>
        </p:nvSpPr>
        <p:spPr>
          <a:xfrm>
            <a:off x="6446520" y="4114800"/>
            <a:ext cx="914400" cy="914400"/>
          </a:xfrm>
          <a:prstGeom prst="ellipse">
            <a:avLst/>
          </a:prstGeom>
          <a:solidFill>
            <a:srgbClr val="D2564E"/>
          </a:solidFill>
          <a:ln/>
        </p:spPr>
      </p:sp>
      <p:pic>
        <p:nvPicPr>
          <p:cNvPr id="20" name="role-4-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34340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8952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L'enquêteur du soir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7589520" y="466344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Il interroge chaque habitant. Ses questions n'entrent pas dans leur mémoire.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Une journée simulée</a:t>
            </a:r>
            <a:endParaRPr lang="en-US" sz="3600" dirty="0"/>
          </a:p>
        </p:txBody>
      </p:sp>
      <p:sp>
        <p:nvSpPr>
          <p:cNvPr id="3" name="etape-rond-1"/>
          <p:cNvSpPr/>
          <p:nvPr/>
        </p:nvSpPr>
        <p:spPr>
          <a:xfrm>
            <a:off x="1417320" y="1600200"/>
            <a:ext cx="822960" cy="822960"/>
          </a:xfrm>
          <a:prstGeom prst="ellipse">
            <a:avLst/>
          </a:prstGeom>
          <a:solidFill>
            <a:srgbClr val="6E4C9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etape-fleche-1"/>
          <p:cNvSpPr/>
          <p:nvPr/>
        </p:nvSpPr>
        <p:spPr>
          <a:xfrm>
            <a:off x="2377440" y="2011680"/>
            <a:ext cx="1828800" cy="0"/>
          </a:xfrm>
          <a:prstGeom prst="line">
            <a:avLst/>
          </a:prstGeom>
          <a:noFill/>
          <a:ln w="25400">
            <a:solidFill>
              <a:srgbClr val="B9A7C9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Matin, midi, soir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546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L'ordonnanceur forme des rencontres de deux ou trois habitants</a:t>
            </a:r>
            <a:endParaRPr lang="en-US" sz="1500" dirty="0"/>
          </a:p>
        </p:txBody>
      </p:sp>
      <p:sp>
        <p:nvSpPr>
          <p:cNvPr id="8" name="etape-rond-2"/>
          <p:cNvSpPr/>
          <p:nvPr/>
        </p:nvSpPr>
        <p:spPr>
          <a:xfrm>
            <a:off x="4251960" y="1600200"/>
            <a:ext cx="822960" cy="822960"/>
          </a:xfrm>
          <a:prstGeom prst="ellipse">
            <a:avLst/>
          </a:prstGeom>
          <a:solidFill>
            <a:srgbClr val="6E4C9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5196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etape-fleche-2"/>
          <p:cNvSpPr/>
          <p:nvPr/>
        </p:nvSpPr>
        <p:spPr>
          <a:xfrm>
            <a:off x="5212080" y="2011680"/>
            <a:ext cx="1828800" cy="0"/>
          </a:xfrm>
          <a:prstGeom prst="line">
            <a:avLst/>
          </a:prstGeom>
          <a:noFill/>
          <a:ln w="25400">
            <a:solidFill>
              <a:srgbClr val="B9A7C9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347472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Échanges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1546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Deux à quatre répliques, selon la fiche et la mémoire de chacun</a:t>
            </a:r>
            <a:endParaRPr lang="en-US" sz="1500" dirty="0"/>
          </a:p>
        </p:txBody>
      </p:sp>
      <p:sp>
        <p:nvSpPr>
          <p:cNvPr id="13" name="etape-rond-3"/>
          <p:cNvSpPr/>
          <p:nvPr/>
        </p:nvSpPr>
        <p:spPr>
          <a:xfrm>
            <a:off x="7086600" y="1600200"/>
            <a:ext cx="822960" cy="822960"/>
          </a:xfrm>
          <a:prstGeom prst="ellipse">
            <a:avLst/>
          </a:prstGeom>
          <a:solidFill>
            <a:srgbClr val="6E4C9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8660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etape-fleche-3"/>
          <p:cNvSpPr/>
          <p:nvPr/>
        </p:nvSpPr>
        <p:spPr>
          <a:xfrm>
            <a:off x="8046720" y="2011680"/>
            <a:ext cx="1828800" cy="0"/>
          </a:xfrm>
          <a:prstGeom prst="line">
            <a:avLst/>
          </a:prstGeom>
          <a:noFill/>
          <a:ln w="25400">
            <a:solidFill>
              <a:srgbClr val="B9A7C9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30936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Souvenirs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1546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Chaque participant écrit ce qu'il retient de la rencontre</a:t>
            </a:r>
            <a:endParaRPr lang="en-US" sz="1500" dirty="0"/>
          </a:p>
        </p:txBody>
      </p:sp>
      <p:sp>
        <p:nvSpPr>
          <p:cNvPr id="18" name="etape-rond-4"/>
          <p:cNvSpPr/>
          <p:nvPr/>
        </p:nvSpPr>
        <p:spPr>
          <a:xfrm>
            <a:off x="9921240" y="160020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2124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Enquête du soir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31546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Position déclarée, climat perçu, test du train</a:t>
            </a:r>
            <a:endParaRPr lang="en-US" sz="1500" dirty="0"/>
          </a:p>
        </p:txBody>
      </p:sp>
      <p:sp>
        <p:nvSpPr>
          <p:cNvPr id="22" name="journee-encart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31A2E"/>
          </a:solidFill>
          <a:ln/>
        </p:spPr>
      </p:sp>
      <p:sp>
        <p:nvSpPr>
          <p:cNvPr id="23" name="journee-cercle"/>
          <p:cNvSpPr/>
          <p:nvPr/>
        </p:nvSpPr>
        <p:spPr>
          <a:xfrm>
            <a:off x="822960" y="484632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journee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5063490"/>
            <a:ext cx="434340" cy="43434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920240" y="4572000"/>
            <a:ext cx="9418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15 journées par simulation.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Environ 2 500 appels de modèles. Toutes les générations sont archivées, toutes les analyses repartent de ces archives.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Six expériences, de la plus simple à la plus fine</a:t>
            </a:r>
            <a:endParaRPr lang="en-US" sz="3600" dirty="0"/>
          </a:p>
        </p:txBody>
      </p:sp>
      <p:sp>
        <p:nvSpPr>
          <p:cNvPr id="3" name="exp-C0"/>
          <p:cNvSpPr/>
          <p:nvPr/>
        </p:nvSpPr>
        <p:spPr>
          <a:xfrm>
            <a:off x="548640" y="14173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2EE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Chaînes de transmission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15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 récit passe de main en main dans une file de 10 agents : la ligne de base</a:t>
            </a:r>
            <a:endParaRPr lang="en-US" sz="1400" dirty="0"/>
          </a:p>
        </p:txBody>
      </p:sp>
      <p:sp>
        <p:nvSpPr>
          <p:cNvPr id="7" name="exp-C1"/>
          <p:cNvSpPr/>
          <p:nvPr/>
        </p:nvSpPr>
        <p:spPr>
          <a:xfrm>
            <a:off x="4297680" y="14173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2EE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645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Rumeur et démenti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15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« La boulangerie va fermer » ; un démenti au jour 6 éteint-il la rumeur ?</a:t>
            </a:r>
            <a:endParaRPr lang="en-US" sz="1400" dirty="0"/>
          </a:p>
        </p:txBody>
      </p:sp>
      <p:sp>
        <p:nvSpPr>
          <p:cNvPr id="11" name="exp-C2"/>
          <p:cNvSpPr/>
          <p:nvPr/>
        </p:nvSpPr>
        <p:spPr>
          <a:xfrm>
            <a:off x="8046720" y="14173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2EE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1645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Bascule d'une convention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715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« La Halle » ou « le Cube » ? À partir de quelle minorité le village bascule</a:t>
            </a:r>
            <a:endParaRPr lang="en-US" sz="1400" dirty="0"/>
          </a:p>
        </p:txBody>
      </p:sp>
      <p:sp>
        <p:nvSpPr>
          <p:cNvPr id="15" name="exp-C3"/>
          <p:cNvSpPr/>
          <p:nvPr/>
        </p:nvSpPr>
        <p:spPr>
          <a:xfrm>
            <a:off x="548640" y="38404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2EE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69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Contrôles d'artefacts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389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Prénoms, genre et consignes permutés : ce qui ne devrait rien changer</a:t>
            </a:r>
            <a:endParaRPr lang="en-US" sz="1400" dirty="0"/>
          </a:p>
        </p:txBody>
      </p:sp>
      <p:sp>
        <p:nvSpPr>
          <p:cNvPr id="19" name="exp-C4"/>
          <p:cNvSpPr/>
          <p:nvPr/>
        </p:nvSpPr>
        <p:spPr>
          <a:xfrm>
            <a:off x="4297680" y="38404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231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0" y="4069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Dire et taire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51389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Un livre d'histoire moralement chargé circule : qui en parle, qui se tait</a:t>
            </a:r>
            <a:endParaRPr lang="en-US" sz="1400" dirty="0"/>
          </a:p>
        </p:txBody>
      </p:sp>
      <p:sp>
        <p:nvSpPr>
          <p:cNvPr id="23" name="exp-C5"/>
          <p:cNvSpPr/>
          <p:nvPr/>
        </p:nvSpPr>
        <p:spPr>
          <a:xfrm>
            <a:off x="8046720" y="38404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2EE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21040" y="4069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C5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Modes d'écriture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51389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40 voix ou un seul romancier : ce que change la polyphonie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Des habitants sans stéréotypes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Les modèles de langage associent spontanément métiers et genres, prénoms et origines. Le protocole les en empêche par construction.</a:t>
            </a:r>
            <a:endParaRPr lang="en-US" sz="1700" dirty="0"/>
          </a:p>
        </p:txBody>
      </p:sp>
      <p:sp>
        <p:nvSpPr>
          <p:cNvPr id="4" name="persona-1-cercle"/>
          <p:cNvSpPr/>
          <p:nvPr/>
        </p:nvSpPr>
        <p:spPr>
          <a:xfrm>
            <a:off x="548640" y="2103120"/>
            <a:ext cx="777240" cy="777240"/>
          </a:xfrm>
          <a:prstGeom prst="ellipse">
            <a:avLst/>
          </a:prstGeom>
          <a:solidFill>
            <a:srgbClr val="2F8F7F"/>
          </a:solidFill>
          <a:ln/>
        </p:spPr>
      </p:sp>
      <p:pic>
        <p:nvPicPr>
          <p:cNvPr id="5" name="persona-1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22974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212140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code attribue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212140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Âge, métier, traits et réseau sont tirés par script. Aucun modèle n'invente un habitant.</a:t>
            </a:r>
            <a:endParaRPr lang="en-US" sz="1600" dirty="0"/>
          </a:p>
        </p:txBody>
      </p:sp>
      <p:sp>
        <p:nvSpPr>
          <p:cNvPr id="8" name="persona-2-cercle"/>
          <p:cNvSpPr/>
          <p:nvPr/>
        </p:nvSpPr>
        <p:spPr>
          <a:xfrm>
            <a:off x="548640" y="3127248"/>
            <a:ext cx="777240" cy="777240"/>
          </a:xfrm>
          <a:prstGeom prst="ellipse">
            <a:avLst/>
          </a:prstGeom>
          <a:solidFill>
            <a:srgbClr val="2F8F7F"/>
          </a:solidFill>
          <a:ln/>
        </p:spPr>
      </p:sp>
      <p:pic>
        <p:nvPicPr>
          <p:cNvPr id="9" name="persona-2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321558"/>
            <a:ext cx="388620" cy="3886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314553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Décorrélation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3145536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Métier et traits sont tirés indépendamment du genre et du prénom. Ni origine ni apparence.</a:t>
            </a:r>
            <a:endParaRPr lang="en-US" sz="1600" dirty="0"/>
          </a:p>
        </p:txBody>
      </p:sp>
      <p:sp>
        <p:nvSpPr>
          <p:cNvPr id="12" name="persona-3-cercle"/>
          <p:cNvSpPr/>
          <p:nvPr/>
        </p:nvSpPr>
        <p:spPr>
          <a:xfrm>
            <a:off x="548640" y="4151376"/>
            <a:ext cx="777240" cy="777240"/>
          </a:xfrm>
          <a:prstGeom prst="ellipse">
            <a:avLst/>
          </a:prstGeom>
          <a:solidFill>
            <a:srgbClr val="2F8F7F"/>
          </a:solidFill>
          <a:ln/>
        </p:spPr>
      </p:sp>
      <p:pic>
        <p:nvPicPr>
          <p:cNvPr id="13" name="persona-3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345686"/>
            <a:ext cx="388620" cy="3886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416966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Personnalité OCEAN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4169664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Cinq dimensions (Big Five) traduites en consignes de comportement.</a:t>
            </a:r>
            <a:endParaRPr lang="en-US" sz="1600" dirty="0"/>
          </a:p>
        </p:txBody>
      </p:sp>
      <p:sp>
        <p:nvSpPr>
          <p:cNvPr id="16" name="persona-4-cercle"/>
          <p:cNvSpPr/>
          <p:nvPr/>
        </p:nvSpPr>
        <p:spPr>
          <a:xfrm>
            <a:off x="548640" y="5175504"/>
            <a:ext cx="777240" cy="777240"/>
          </a:xfrm>
          <a:prstGeom prst="ellipse">
            <a:avLst/>
          </a:prstGeom>
          <a:solidFill>
            <a:srgbClr val="2F8F7F"/>
          </a:solidFill>
          <a:ln/>
        </p:spPr>
      </p:sp>
      <p:pic>
        <p:nvPicPr>
          <p:cNvPr id="17" name="persona-4-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5369814"/>
            <a:ext cx="388620" cy="3886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51937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Permutations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0" y="5193792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Mêmes simulations, prénoms ou genres échangés : tout écart mesure un biais du modèle.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Un objet pour les SIC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Étudier un dispositif génératif, non simuler une société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Construire l'objet de recherche</a:t>
            </a:r>
            <a:endParaRPr lang="en-US" sz="3600" dirty="0"/>
          </a:p>
        </p:txBody>
      </p:sp>
      <p:sp>
        <p:nvSpPr>
          <p:cNvPr id="3" name="niveau-1"/>
          <p:cNvSpPr/>
          <p:nvPr/>
        </p:nvSpPr>
        <p:spPr>
          <a:xfrm>
            <a:off x="548640" y="1417320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F2EE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270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 concret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9280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 village simulé : agents, ordonnanceur, narrateur, consignes, traces</a:t>
            </a:r>
            <a:endParaRPr lang="en-US" sz="1400" dirty="0"/>
          </a:p>
        </p:txBody>
      </p:sp>
      <p:sp>
        <p:nvSpPr>
          <p:cNvPr id="6" name="niveau-2"/>
          <p:cNvSpPr/>
          <p:nvPr/>
        </p:nvSpPr>
        <p:spPr>
          <a:xfrm>
            <a:off x="1005840" y="2606040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B9A7C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80160" y="27157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 scientifique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0815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 trivialité produite par des dispositifs génératifs</a:t>
            </a:r>
            <a:endParaRPr lang="en-US" sz="1400" dirty="0"/>
          </a:p>
        </p:txBody>
      </p:sp>
      <p:sp>
        <p:nvSpPr>
          <p:cNvPr id="9" name="niveau-3"/>
          <p:cNvSpPr/>
          <p:nvPr/>
        </p:nvSpPr>
        <p:spPr>
          <a:xfrm>
            <a:off x="1463040" y="3794760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6E4C9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37360" y="39044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 de recherche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427024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Les écarts entre cette trivialité et les phénomènes humains documentés, et ce qu'ils révèlent des architextes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D'après Davallon (2004)</a:t>
            </a:r>
            <a:endParaRPr lang="en-US" sz="1200" dirty="0"/>
          </a:p>
        </p:txBody>
      </p:sp>
      <p:sp>
        <p:nvSpPr>
          <p:cNvPr id="13" name="posture-encart"/>
          <p:cNvSpPr/>
          <p:nvPr/>
        </p:nvSpPr>
        <p:spPr>
          <a:xfrm>
            <a:off x="8229600" y="1417320"/>
            <a:ext cx="3383280" cy="4526280"/>
          </a:xfrm>
          <a:prstGeom prst="roundRect">
            <a:avLst>
              <a:gd name="adj" fmla="val 3243"/>
            </a:avLst>
          </a:prstGeom>
          <a:solidFill>
            <a:srgbClr val="231A2E"/>
          </a:solidFill>
          <a:ln/>
        </p:spPr>
      </p:sp>
      <p:sp>
        <p:nvSpPr>
          <p:cNvPr id="14" name="posture-cercle"/>
          <p:cNvSpPr/>
          <p:nvPr/>
        </p:nvSpPr>
        <p:spPr>
          <a:xfrm>
            <a:off x="8503920" y="16916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posture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8230" y="1885950"/>
            <a:ext cx="388620" cy="38862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41832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Posture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503920" y="265176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Le village n'est pas un modèle de la société.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Les agents n'ont pas d'intériorité : on parle de positions déclarées et exprimées.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Les écarts aux humains sont le résultat.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Reproduire n'est pas expliquer.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Problématique générale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698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une simulation sociale générative fait-elle circuler et se transformer des énoncés, </a:t>
            </a:r>
            <a:pPr indent="0" marL="0">
              <a:buNone/>
            </a:pPr>
            <a:r>
              <a:rPr lang="en-US" sz="34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alors que toutes les voix qui la peuplent sont écrites par un même architexte ?</a:t>
            </a:r>
            <a:endParaRPr lang="en-US" sz="3400" dirty="0"/>
          </a:p>
        </p:txBody>
      </p:sp>
      <p:sp>
        <p:nvSpPr>
          <p:cNvPr id="4" name="x-carte"/>
          <p:cNvSpPr/>
          <p:nvPr/>
        </p:nvSpPr>
        <p:spPr>
          <a:xfrm>
            <a:off x="731520" y="4206240"/>
            <a:ext cx="5120640" cy="1737360"/>
          </a:xfrm>
          <a:prstGeom prst="roundRect">
            <a:avLst>
              <a:gd name="adj" fmla="val 6316"/>
            </a:avLst>
          </a:prstGeom>
          <a:solidFill>
            <a:srgbClr val="5A4A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4343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X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 trivialité générée : rumeurs, démentis, conventions, savoirs qui circulent et se transforment</a:t>
            </a:r>
            <a:endParaRPr lang="en-US" sz="1600" dirty="0"/>
          </a:p>
        </p:txBody>
      </p:sp>
      <p:sp>
        <p:nvSpPr>
          <p:cNvPr id="6" name="y-carte"/>
          <p:cNvSpPr/>
          <p:nvPr/>
        </p:nvSpPr>
        <p:spPr>
          <a:xfrm>
            <a:off x="6309360" y="4206240"/>
            <a:ext cx="5120640" cy="1737360"/>
          </a:xfrm>
          <a:prstGeom prst="roundRect">
            <a:avLst>
              <a:gd name="adj" fmla="val 6316"/>
            </a:avLst>
          </a:prstGeom>
          <a:solidFill>
            <a:srgbClr val="5A4A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0" y="4343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Y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 trivialité suppose des médiations hétérogènes ; ici, une seule machine écrit toutes les voix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Les concepts mobilisés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Noyau théorique</a:t>
            </a:r>
            <a:endParaRPr lang="en-US" sz="2000" dirty="0"/>
          </a:p>
        </p:txBody>
      </p:sp>
      <p:sp>
        <p:nvSpPr>
          <p:cNvPr id="4" name="noyau-1"/>
          <p:cNvSpPr/>
          <p:nvPr/>
        </p:nvSpPr>
        <p:spPr>
          <a:xfrm>
            <a:off x="548640" y="18288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6E4C9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0195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Trivialité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334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Jeanneret</a:t>
            </a:r>
            <a:endParaRPr lang="en-US" sz="1300" dirty="0"/>
          </a:p>
        </p:txBody>
      </p:sp>
      <p:sp>
        <p:nvSpPr>
          <p:cNvPr id="7" name="noyau-2"/>
          <p:cNvSpPr/>
          <p:nvPr/>
        </p:nvSpPr>
        <p:spPr>
          <a:xfrm>
            <a:off x="3383280" y="18288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6E4C9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190195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Architexte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6334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Jeanneret, Souchier</a:t>
            </a:r>
            <a:endParaRPr lang="en-US" sz="1300" dirty="0"/>
          </a:p>
        </p:txBody>
      </p:sp>
      <p:sp>
        <p:nvSpPr>
          <p:cNvPr id="10" name="noyau-3"/>
          <p:cNvSpPr/>
          <p:nvPr/>
        </p:nvSpPr>
        <p:spPr>
          <a:xfrm>
            <a:off x="6217920" y="18288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6E4C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90195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Énonciation éditoriale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6334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Souchier</a:t>
            </a:r>
            <a:endParaRPr lang="en-US" sz="1300" dirty="0"/>
          </a:p>
        </p:txBody>
      </p:sp>
      <p:sp>
        <p:nvSpPr>
          <p:cNvPr id="13" name="noyau-4"/>
          <p:cNvSpPr/>
          <p:nvPr/>
        </p:nvSpPr>
        <p:spPr>
          <a:xfrm>
            <a:off x="9052560" y="18288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6E4C9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35440" y="190195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Dispositif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6334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Foucault, Agamben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83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empruntés, avec leurs conditions d'emprunt</a:t>
            </a:r>
            <a:endParaRPr lang="en-US" sz="2000" dirty="0"/>
          </a:p>
        </p:txBody>
      </p:sp>
      <p:sp>
        <p:nvSpPr>
          <p:cNvPr id="17" name="emprunt-1"/>
          <p:cNvSpPr/>
          <p:nvPr/>
        </p:nvSpPr>
        <p:spPr>
          <a:xfrm>
            <a:off x="548640" y="3886200"/>
            <a:ext cx="2606040" cy="960120"/>
          </a:xfrm>
          <a:prstGeom prst="roundRect">
            <a:avLst>
              <a:gd name="adj" fmla="val 11429"/>
            </a:avLst>
          </a:prstGeom>
          <a:solidFill>
            <a:srgbClr val="F2EE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995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Reproduction en série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Bartlett ; Allport et Postman</a:t>
            </a:r>
            <a:endParaRPr lang="en-US" sz="1200" dirty="0"/>
          </a:p>
        </p:txBody>
      </p:sp>
      <p:sp>
        <p:nvSpPr>
          <p:cNvPr id="20" name="emprunt-2"/>
          <p:cNvSpPr/>
          <p:nvPr/>
        </p:nvSpPr>
        <p:spPr>
          <a:xfrm>
            <a:off x="3383280" y="3886200"/>
            <a:ext cx="2606040" cy="960120"/>
          </a:xfrm>
          <a:prstGeom prst="roundRect">
            <a:avLst>
              <a:gd name="adj" fmla="val 11429"/>
            </a:avLst>
          </a:prstGeom>
          <a:solidFill>
            <a:srgbClr val="F2EE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66160" y="3995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Attracteurs culturels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Sperber ; Perez et al.</a:t>
            </a:r>
            <a:endParaRPr lang="en-US" sz="1200" dirty="0"/>
          </a:p>
        </p:txBody>
      </p:sp>
      <p:sp>
        <p:nvSpPr>
          <p:cNvPr id="23" name="emprunt-3"/>
          <p:cNvSpPr/>
          <p:nvPr/>
        </p:nvSpPr>
        <p:spPr>
          <a:xfrm>
            <a:off x="6217920" y="3886200"/>
            <a:ext cx="2606040" cy="960120"/>
          </a:xfrm>
          <a:prstGeom prst="roundRect">
            <a:avLst>
              <a:gd name="adj" fmla="val 11429"/>
            </a:avLst>
          </a:prstGeom>
          <a:solidFill>
            <a:srgbClr val="F2EE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0" y="3995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Spirale du silence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Noelle-Neumann</a:t>
            </a:r>
            <a:endParaRPr lang="en-US" sz="1200" dirty="0"/>
          </a:p>
        </p:txBody>
      </p:sp>
      <p:sp>
        <p:nvSpPr>
          <p:cNvPr id="26" name="emprunt-4"/>
          <p:cNvSpPr/>
          <p:nvPr/>
        </p:nvSpPr>
        <p:spPr>
          <a:xfrm>
            <a:off x="9052560" y="3886200"/>
            <a:ext cx="2606040" cy="960120"/>
          </a:xfrm>
          <a:prstGeom prst="roundRect">
            <a:avLst>
              <a:gd name="adj" fmla="val 11429"/>
            </a:avLst>
          </a:prstGeom>
          <a:solidFill>
            <a:srgbClr val="F2EE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35440" y="3995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Lectures de Hall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adaptées à la source</a:t>
            </a:r>
            <a:endParaRPr lang="en-US" sz="1200" dirty="0"/>
          </a:p>
        </p:txBody>
      </p:sp>
      <p:sp>
        <p:nvSpPr>
          <p:cNvPr id="29" name="emprunt-5"/>
          <p:cNvSpPr/>
          <p:nvPr/>
        </p:nvSpPr>
        <p:spPr>
          <a:xfrm>
            <a:off x="548640" y="5029200"/>
            <a:ext cx="2606040" cy="960120"/>
          </a:xfrm>
          <a:prstGeom prst="roundRect">
            <a:avLst>
              <a:gd name="adj" fmla="val 11429"/>
            </a:avLst>
          </a:prstGeom>
          <a:solidFill>
            <a:srgbClr val="F2EEF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5138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Formule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5532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Krieg-Planque</a:t>
            </a:r>
            <a:endParaRPr lang="en-US" sz="1200" dirty="0"/>
          </a:p>
        </p:txBody>
      </p:sp>
      <p:sp>
        <p:nvSpPr>
          <p:cNvPr id="32" name="emprunt-6"/>
          <p:cNvSpPr/>
          <p:nvPr/>
        </p:nvSpPr>
        <p:spPr>
          <a:xfrm>
            <a:off x="3383280" y="5029200"/>
            <a:ext cx="2606040" cy="960120"/>
          </a:xfrm>
          <a:prstGeom prst="roundRect">
            <a:avLst>
              <a:gd name="adj" fmla="val 11429"/>
            </a:avLst>
          </a:prstGeom>
          <a:solidFill>
            <a:srgbClr val="F2EEF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66160" y="5138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Mémoire interdiscursive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3566160" y="5532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Moirand</a:t>
            </a:r>
            <a:endParaRPr lang="en-US" sz="1200" dirty="0"/>
          </a:p>
        </p:txBody>
      </p:sp>
      <p:sp>
        <p:nvSpPr>
          <p:cNvPr id="35" name="emprunt-7"/>
          <p:cNvSpPr/>
          <p:nvPr/>
        </p:nvSpPr>
        <p:spPr>
          <a:xfrm>
            <a:off x="6217920" y="5029200"/>
            <a:ext cx="2606040" cy="960120"/>
          </a:xfrm>
          <a:prstGeom prst="roundRect">
            <a:avLst>
              <a:gd name="adj" fmla="val 11429"/>
            </a:avLst>
          </a:prstGeom>
          <a:solidFill>
            <a:srgbClr val="F2EEF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0" y="5138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Vulgarisation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5532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Jacobi ; Authier-Revuz</a:t>
            </a:r>
            <a:endParaRPr lang="en-US" sz="1200" dirty="0"/>
          </a:p>
        </p:txBody>
      </p:sp>
      <p:sp>
        <p:nvSpPr>
          <p:cNvPr id="38" name="emprunt-8"/>
          <p:cNvSpPr/>
          <p:nvPr/>
        </p:nvSpPr>
        <p:spPr>
          <a:xfrm>
            <a:off x="9052560" y="5029200"/>
            <a:ext cx="2606040" cy="960120"/>
          </a:xfrm>
          <a:prstGeom prst="roundRect">
            <a:avLst>
              <a:gd name="adj" fmla="val 11429"/>
            </a:avLst>
          </a:prstGeom>
          <a:solidFill>
            <a:srgbClr val="F2EEF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235440" y="5138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Flux à deux étages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9235440" y="5532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Katz et Lazarsfeld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Une grille de lecture à cinq niveaux</a:t>
            </a:r>
            <a:endParaRPr lang="en-US" sz="3600" dirty="0"/>
          </a:p>
        </p:txBody>
      </p:sp>
      <p:sp>
        <p:nvSpPr>
          <p:cNvPr id="3" name="grille-1"/>
          <p:cNvSpPr/>
          <p:nvPr/>
        </p:nvSpPr>
        <p:spPr>
          <a:xfrm>
            <a:off x="548640" y="146304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F2EEF6"/>
          </a:solidFill>
          <a:ln/>
        </p:spPr>
      </p:sp>
      <p:sp>
        <p:nvSpPr>
          <p:cNvPr id="4" name="grille-1-cercle"/>
          <p:cNvSpPr/>
          <p:nvPr/>
        </p:nvSpPr>
        <p:spPr>
          <a:xfrm>
            <a:off x="1133856" y="1737360"/>
            <a:ext cx="914400" cy="914400"/>
          </a:xfrm>
          <a:prstGeom prst="ellipse">
            <a:avLst/>
          </a:prstGeom>
          <a:solidFill>
            <a:srgbClr val="6E4C94"/>
          </a:solidFill>
          <a:ln/>
        </p:spPr>
      </p:sp>
      <p:pic>
        <p:nvPicPr>
          <p:cNvPr id="5" name="grille-1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8346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Dispositif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33756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Ce qui est inscrit avant toute circulation</a:t>
            </a:r>
            <a:endParaRPr lang="en-US" sz="1500" dirty="0"/>
          </a:p>
        </p:txBody>
      </p:sp>
      <p:sp>
        <p:nvSpPr>
          <p:cNvPr id="8" name="grille-2"/>
          <p:cNvSpPr/>
          <p:nvPr/>
        </p:nvSpPr>
        <p:spPr>
          <a:xfrm>
            <a:off x="2816352" y="146304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F2EEF6"/>
          </a:solidFill>
          <a:ln/>
        </p:spPr>
      </p:sp>
      <p:sp>
        <p:nvSpPr>
          <p:cNvPr id="9" name="grille-2-cercle"/>
          <p:cNvSpPr/>
          <p:nvPr/>
        </p:nvSpPr>
        <p:spPr>
          <a:xfrm>
            <a:off x="3401568" y="1737360"/>
            <a:ext cx="914400" cy="914400"/>
          </a:xfrm>
          <a:prstGeom prst="ellipse">
            <a:avLst/>
          </a:prstGeom>
          <a:solidFill>
            <a:srgbClr val="6E4C94"/>
          </a:solidFill>
          <a:ln/>
        </p:spPr>
      </p:sp>
      <p:pic>
        <p:nvPicPr>
          <p:cNvPr id="10" name="grille-2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9659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53512" y="28346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Circulation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953512" y="333756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Par où passent les énoncés</a:t>
            </a:r>
            <a:endParaRPr lang="en-US" sz="1500" dirty="0"/>
          </a:p>
        </p:txBody>
      </p:sp>
      <p:sp>
        <p:nvSpPr>
          <p:cNvPr id="13" name="grille-3"/>
          <p:cNvSpPr/>
          <p:nvPr/>
        </p:nvSpPr>
        <p:spPr>
          <a:xfrm>
            <a:off x="5084064" y="146304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F2EEF6"/>
          </a:solidFill>
          <a:ln/>
        </p:spPr>
      </p:sp>
      <p:sp>
        <p:nvSpPr>
          <p:cNvPr id="14" name="grille-3-cercle"/>
          <p:cNvSpPr/>
          <p:nvPr/>
        </p:nvSpPr>
        <p:spPr>
          <a:xfrm>
            <a:off x="5669280" y="1737360"/>
            <a:ext cx="914400" cy="914400"/>
          </a:xfrm>
          <a:prstGeom prst="ellipse">
            <a:avLst/>
          </a:prstGeom>
          <a:solidFill>
            <a:srgbClr val="6E4C94"/>
          </a:solidFill>
          <a:ln/>
        </p:spPr>
      </p:sp>
      <p:pic>
        <p:nvPicPr>
          <p:cNvPr id="15" name="grille-3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9659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21224" y="28346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Énoncés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5221224" y="333756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Comment ils se transforment</a:t>
            </a:r>
            <a:endParaRPr lang="en-US" sz="1500" dirty="0"/>
          </a:p>
        </p:txBody>
      </p:sp>
      <p:sp>
        <p:nvSpPr>
          <p:cNvPr id="18" name="grille-4"/>
          <p:cNvSpPr/>
          <p:nvPr/>
        </p:nvSpPr>
        <p:spPr>
          <a:xfrm>
            <a:off x="7351776" y="146304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F2EEF6"/>
          </a:solidFill>
          <a:ln/>
        </p:spPr>
      </p:sp>
      <p:sp>
        <p:nvSpPr>
          <p:cNvPr id="19" name="grille-4-cercle"/>
          <p:cNvSpPr/>
          <p:nvPr/>
        </p:nvSpPr>
        <p:spPr>
          <a:xfrm>
            <a:off x="7936992" y="1737360"/>
            <a:ext cx="914400" cy="914400"/>
          </a:xfrm>
          <a:prstGeom prst="ellipse">
            <a:avLst/>
          </a:prstGeom>
          <a:solidFill>
            <a:srgbClr val="6E4C94"/>
          </a:solidFill>
          <a:ln/>
        </p:spPr>
      </p:sp>
      <p:pic>
        <p:nvPicPr>
          <p:cNvPr id="20" name="grille-4-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19659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88936" y="28346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Appropriations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488936" y="333756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Quelles positions selon les cadres d'énonciation</a:t>
            </a:r>
            <a:endParaRPr lang="en-US" sz="1500" dirty="0"/>
          </a:p>
        </p:txBody>
      </p:sp>
      <p:sp>
        <p:nvSpPr>
          <p:cNvPr id="23" name="grille-5"/>
          <p:cNvSpPr/>
          <p:nvPr/>
        </p:nvSpPr>
        <p:spPr>
          <a:xfrm>
            <a:off x="9619488" y="146304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231A2E"/>
          </a:solidFill>
          <a:ln/>
        </p:spPr>
      </p:sp>
      <p:sp>
        <p:nvSpPr>
          <p:cNvPr id="24" name="grille-5-cercle"/>
          <p:cNvSpPr/>
          <p:nvPr/>
        </p:nvSpPr>
        <p:spPr>
          <a:xfrm>
            <a:off x="10204704" y="173736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5" name="grille-5-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3304" y="196596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56648" y="28346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Écarts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9756648" y="333756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Ce que révèle la comparaison aux humains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4754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Livre de codes descriptif 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réduction, accentuation, assimilation, contextualisation, formule, analogie, lectures conforme, négociée ou oppositionnelle. Une transformation n'est pas jugée comme une perte.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C4 · Dire et taire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Un livre d'histoire moralement chargé circule dans le village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Problématique du C4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un dispositif génératif met-il en scène le dire et le taire autour d'un savoir savant, </a:t>
            </a:r>
            <a:pPr indent="0" marL="0">
              <a:buNone/>
            </a:pPr>
            <a:r>
              <a:rPr lang="en-US" sz="32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alors que ses agents, conçus pour toujours répondre, n'ont rien à craindre de la parole ?</a:t>
            </a:r>
            <a:endParaRPr lang="en-US" sz="3200" dirty="0"/>
          </a:p>
        </p:txBody>
      </p:sp>
      <p:sp>
        <p:nvSpPr>
          <p:cNvPr id="4" name="c4-cas"/>
          <p:cNvSpPr/>
          <p:nvPr/>
        </p:nvSpPr>
        <p:spPr>
          <a:xfrm>
            <a:off x="731520" y="4297680"/>
            <a:ext cx="10698480" cy="1645920"/>
          </a:xfrm>
          <a:prstGeom prst="roundRect">
            <a:avLst>
              <a:gd name="adj" fmla="val 6667"/>
            </a:avLst>
          </a:prstGeom>
          <a:solidFill>
            <a:srgbClr val="5A4A6E"/>
          </a:solidFill>
          <a:ln/>
        </p:spPr>
      </p:sp>
      <p:sp>
        <p:nvSpPr>
          <p:cNvPr id="5" name="c4-livre-cercle"/>
          <p:cNvSpPr/>
          <p:nvPr/>
        </p:nvSpPr>
        <p:spPr>
          <a:xfrm>
            <a:off x="1005840" y="4572000"/>
            <a:ext cx="1051560" cy="10515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c4-livre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730" y="4834890"/>
            <a:ext cx="525780" cy="5257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4297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 d'étude :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Johann Chapoutot, Les irresponsables (Gallimard, 2025). Comparé à un compte rendu de presse, à un autre historien et à un livre sans enjeu moral.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Mesurer ce qui se dit et ce qui se tait</a:t>
            </a:r>
            <a:endParaRPr lang="en-US" sz="3600" dirty="0"/>
          </a:p>
        </p:txBody>
      </p:sp>
      <p:sp>
        <p:nvSpPr>
          <p:cNvPr id="3" name="declare"/>
          <p:cNvSpPr/>
          <p:nvPr/>
        </p:nvSpPr>
        <p:spPr>
          <a:xfrm>
            <a:off x="548640" y="141732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2EEF6"/>
          </a:solidFill>
          <a:ln/>
        </p:spPr>
      </p:sp>
      <p:sp>
        <p:nvSpPr>
          <p:cNvPr id="4" name="declare-cercle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rgbClr val="6E4C94"/>
          </a:solidFill>
          <a:ln/>
        </p:spPr>
      </p:sp>
      <p:pic>
        <p:nvPicPr>
          <p:cNvPr id="5" name="declare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973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est déclaré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194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Face à l'enquêteur, dans un cadre présenté comme confidentiel : position, climat perçu, tendance.</a:t>
            </a:r>
            <a:endParaRPr lang="en-US" sz="1500" dirty="0"/>
          </a:p>
        </p:txBody>
      </p:sp>
      <p:sp>
        <p:nvSpPr>
          <p:cNvPr id="8" name="exprime"/>
          <p:cNvSpPr/>
          <p:nvPr/>
        </p:nvSpPr>
        <p:spPr>
          <a:xfrm>
            <a:off x="548640" y="374904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2EEF6"/>
          </a:solidFill>
          <a:ln/>
        </p:spPr>
      </p:sp>
      <p:sp>
        <p:nvSpPr>
          <p:cNvPr id="9" name="exprime-cercle"/>
          <p:cNvSpPr/>
          <p:nvPr/>
        </p:nvSpPr>
        <p:spPr>
          <a:xfrm>
            <a:off x="822960" y="402336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exprime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42291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2880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s'entend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828800" y="45262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En scène publique ou en tête-à-tête, face à des sollicitations standardisées identiques partout.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30936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l'on fait varier</a:t>
            </a:r>
            <a:endParaRPr lang="en-US" sz="2000" dirty="0"/>
          </a:p>
        </p:txBody>
      </p:sp>
      <p:sp>
        <p:nvSpPr>
          <p:cNvPr id="14" name="facteur-1-cercle"/>
          <p:cNvSpPr/>
          <p:nvPr/>
        </p:nvSpPr>
        <p:spPr>
          <a:xfrm>
            <a:off x="6309360" y="1965960"/>
            <a:ext cx="685800" cy="685800"/>
          </a:xfrm>
          <a:prstGeom prst="ellipse">
            <a:avLst/>
          </a:prstGeom>
          <a:solidFill>
            <a:srgbClr val="2F8F7F"/>
          </a:solidFill>
          <a:ln/>
        </p:spPr>
      </p:sp>
      <p:pic>
        <p:nvPicPr>
          <p:cNvPr id="15" name="facteur-1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213741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78040" y="19659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source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178040" y="2313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S0 sans enjeu, S1 Chapoutot, S2 presse, S3 autre historien</a:t>
            </a:r>
            <a:endParaRPr lang="en-US" sz="1400" dirty="0"/>
          </a:p>
        </p:txBody>
      </p:sp>
      <p:sp>
        <p:nvSpPr>
          <p:cNvPr id="18" name="facteur-2-cercle"/>
          <p:cNvSpPr/>
          <p:nvPr/>
        </p:nvSpPr>
        <p:spPr>
          <a:xfrm>
            <a:off x="6309360" y="2953512"/>
            <a:ext cx="685800" cy="685800"/>
          </a:xfrm>
          <a:prstGeom prst="ellipse">
            <a:avLst/>
          </a:prstGeom>
          <a:solidFill>
            <a:srgbClr val="2F8F7F"/>
          </a:solidFill>
          <a:ln/>
        </p:spPr>
      </p:sp>
      <p:pic>
        <p:nvPicPr>
          <p:cNvPr id="19" name="facteur-2-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810" y="3124962"/>
            <a:ext cx="342900" cy="3429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178040" y="29535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gazette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178040" y="33009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Absente, favorable, critique : le climat médiatique</a:t>
            </a:r>
            <a:endParaRPr lang="en-US" sz="1400" dirty="0"/>
          </a:p>
        </p:txBody>
      </p:sp>
      <p:sp>
        <p:nvSpPr>
          <p:cNvPr id="22" name="facteur-3-cercle"/>
          <p:cNvSpPr/>
          <p:nvPr/>
        </p:nvSpPr>
        <p:spPr>
          <a:xfrm>
            <a:off x="6309360" y="3941064"/>
            <a:ext cx="685800" cy="685800"/>
          </a:xfrm>
          <a:prstGeom prst="ellipse">
            <a:avLst/>
          </a:prstGeom>
          <a:solidFill>
            <a:srgbClr val="2F8F7F"/>
          </a:solidFill>
          <a:ln/>
        </p:spPr>
      </p:sp>
      <p:pic>
        <p:nvPicPr>
          <p:cNvPr id="23" name="facteur-3-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810" y="4112514"/>
            <a:ext cx="342900" cy="342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78040" y="39410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Les compères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7178040" y="42885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Habitants programmés : le climat de l'entourage</a:t>
            </a:r>
            <a:endParaRPr lang="en-US" sz="1400" dirty="0"/>
          </a:p>
        </p:txBody>
      </p:sp>
      <p:sp>
        <p:nvSpPr>
          <p:cNvPr id="26" name="facteur-4-cercle"/>
          <p:cNvSpPr/>
          <p:nvPr/>
        </p:nvSpPr>
        <p:spPr>
          <a:xfrm>
            <a:off x="6309360" y="4928616"/>
            <a:ext cx="685800" cy="685800"/>
          </a:xfrm>
          <a:prstGeom prst="ellipse">
            <a:avLst/>
          </a:prstGeom>
          <a:solidFill>
            <a:srgbClr val="2F8F7F"/>
          </a:solidFill>
          <a:ln/>
        </p:spPr>
      </p:sp>
      <p:pic>
        <p:nvPicPr>
          <p:cNvPr id="27" name="facteur-4-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810" y="5100066"/>
            <a:ext cx="342900" cy="3429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178040" y="492861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L'ordonnancement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7178040" y="52760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Rencontres au hasard ou chambre d'écho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D'où viendrait le silence ? Trois explications</a:t>
            </a:r>
            <a:endParaRPr lang="en-US" sz="3600" dirty="0"/>
          </a:p>
        </p:txBody>
      </p:sp>
      <p:sp>
        <p:nvSpPr>
          <p:cNvPr id="3" name="mecanisme-1"/>
          <p:cNvSpPr/>
          <p:nvPr/>
        </p:nvSpPr>
        <p:spPr>
          <a:xfrm>
            <a:off x="548640" y="141732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F2EEF6"/>
          </a:solidFill>
          <a:ln/>
        </p:spPr>
      </p:sp>
      <p:sp>
        <p:nvSpPr>
          <p:cNvPr id="4" name="mecanisme-1-cercle"/>
          <p:cNvSpPr/>
          <p:nvPr/>
        </p:nvSpPr>
        <p:spPr>
          <a:xfrm>
            <a:off x="1828800" y="1691640"/>
            <a:ext cx="960120" cy="960120"/>
          </a:xfrm>
          <a:prstGeom prst="ellipse">
            <a:avLst/>
          </a:prstGeom>
          <a:solidFill>
            <a:srgbClr val="6E4C94"/>
          </a:solidFill>
          <a:ln/>
        </p:spPr>
      </p:sp>
      <p:pic>
        <p:nvPicPr>
          <p:cNvPr id="5" name="mecanisme-1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8830" y="1931670"/>
            <a:ext cx="480060" cy="4800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Mécanisme social simulé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 disposition à s'autocensurer écrite dans la fiche</a:t>
            </a:r>
            <a:endParaRPr lang="en-US" sz="1500" dirty="0"/>
          </a:p>
        </p:txBody>
      </p:sp>
      <p:sp>
        <p:nvSpPr>
          <p:cNvPr id="8" name="mecanisme-test-1"/>
          <p:cNvSpPr/>
          <p:nvPr/>
        </p:nvSpPr>
        <p:spPr>
          <a:xfrm>
            <a:off x="777240" y="4572000"/>
            <a:ext cx="3063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61772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Test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condition sans autocensure dans le village</a:t>
            </a:r>
            <a:endParaRPr lang="en-US" sz="1400" dirty="0"/>
          </a:p>
        </p:txBody>
      </p:sp>
      <p:sp>
        <p:nvSpPr>
          <p:cNvPr id="10" name="mecanisme-2"/>
          <p:cNvSpPr/>
          <p:nvPr/>
        </p:nvSpPr>
        <p:spPr>
          <a:xfrm>
            <a:off x="4297680" y="141732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F2EEF6"/>
          </a:solidFill>
          <a:ln/>
        </p:spPr>
      </p:sp>
      <p:sp>
        <p:nvSpPr>
          <p:cNvPr id="11" name="mecanisme-2-cercle"/>
          <p:cNvSpPr/>
          <p:nvPr/>
        </p:nvSpPr>
        <p:spPr>
          <a:xfrm>
            <a:off x="5577840" y="1691640"/>
            <a:ext cx="960120" cy="960120"/>
          </a:xfrm>
          <a:prstGeom prst="ellipse">
            <a:avLst/>
          </a:prstGeom>
          <a:solidFill>
            <a:srgbClr val="2F8F7F"/>
          </a:solidFill>
          <a:ln/>
        </p:spPr>
      </p:sp>
      <p:pic>
        <p:nvPicPr>
          <p:cNvPr id="12" name="mecanisme-2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870" y="193167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2628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Complaisance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 modèle s'aligne sur son interlocuteur</a:t>
            </a:r>
            <a:endParaRPr lang="en-US" sz="1500" dirty="0"/>
          </a:p>
        </p:txBody>
      </p:sp>
      <p:sp>
        <p:nvSpPr>
          <p:cNvPr id="15" name="mecanisme-test-2"/>
          <p:cNvSpPr/>
          <p:nvPr/>
        </p:nvSpPr>
        <p:spPr>
          <a:xfrm>
            <a:off x="4526280" y="4572000"/>
            <a:ext cx="3063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663440" y="461772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Test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dyades contrôlées, interlocuteur favorable puis critique</a:t>
            </a:r>
            <a:endParaRPr lang="en-US" sz="1400" dirty="0"/>
          </a:p>
        </p:txBody>
      </p:sp>
      <p:sp>
        <p:nvSpPr>
          <p:cNvPr id="17" name="mecanisme-3"/>
          <p:cNvSpPr/>
          <p:nvPr/>
        </p:nvSpPr>
        <p:spPr>
          <a:xfrm>
            <a:off x="8046720" y="141732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F2EEF6"/>
          </a:solidFill>
          <a:ln/>
        </p:spPr>
      </p:sp>
      <p:sp>
        <p:nvSpPr>
          <p:cNvPr id="18" name="mecanisme-3-cercle"/>
          <p:cNvSpPr/>
          <p:nvPr/>
        </p:nvSpPr>
        <p:spPr>
          <a:xfrm>
            <a:off x="9326880" y="1691640"/>
            <a:ext cx="960120" cy="960120"/>
          </a:xfrm>
          <a:prstGeom prst="ellipse">
            <a:avLst/>
          </a:prstGeom>
          <a:solidFill>
            <a:srgbClr val="D2564E"/>
          </a:solidFill>
          <a:ln/>
        </p:spPr>
      </p:sp>
      <p:pic>
        <p:nvPicPr>
          <p:cNvPr id="19" name="mecanisme-3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0" y="1931670"/>
            <a:ext cx="480060" cy="4800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7532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Neutralité apprise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 modèle est réglé pour ne pas prendre parti</a:t>
            </a:r>
            <a:endParaRPr lang="en-US" sz="1500" dirty="0"/>
          </a:p>
        </p:txBody>
      </p:sp>
      <p:sp>
        <p:nvSpPr>
          <p:cNvPr id="22" name="mecanisme-test-3"/>
          <p:cNvSpPr/>
          <p:nvPr/>
        </p:nvSpPr>
        <p:spPr>
          <a:xfrm>
            <a:off x="8275320" y="4572000"/>
            <a:ext cx="3063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412480" y="461772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Test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sans public, l'agent seul répond, sujet controversé ou non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Un plan d'expérience à priorités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iffre-plan-1"/>
          <p:cNvSpPr/>
          <p:nvPr/>
        </p:nvSpPr>
        <p:spPr>
          <a:xfrm>
            <a:off x="7589520" y="146304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231A2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818120" y="1554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simulations au total</a:t>
            </a:r>
            <a:endParaRPr lang="en-US" sz="1400" dirty="0"/>
          </a:p>
        </p:txBody>
      </p:sp>
      <p:sp>
        <p:nvSpPr>
          <p:cNvPr id="7" name="chiffre-plan-2"/>
          <p:cNvSpPr/>
          <p:nvPr/>
        </p:nvSpPr>
        <p:spPr>
          <a:xfrm>
            <a:off x="7589520" y="292608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F2EE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18120" y="3017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3703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graines minimum pour les contrastes centraux</a:t>
            </a:r>
            <a:endParaRPr lang="en-US" sz="1400" dirty="0"/>
          </a:p>
        </p:txBody>
      </p:sp>
      <p:sp>
        <p:nvSpPr>
          <p:cNvPr id="10" name="chiffre-plan-3"/>
          <p:cNvSpPr/>
          <p:nvPr/>
        </p:nvSpPr>
        <p:spPr>
          <a:xfrm>
            <a:off x="7589520" y="438912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F2EE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18120" y="4480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à 1 500 $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5166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coût estimé, à recalculer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Les garde-fous de la rigueur</a:t>
            </a:r>
            <a:endParaRPr lang="en-US" sz="3600" dirty="0"/>
          </a:p>
        </p:txBody>
      </p:sp>
      <p:sp>
        <p:nvSpPr>
          <p:cNvPr id="3" name="rigueur-1-cercle"/>
          <p:cNvSpPr/>
          <p:nvPr/>
        </p:nvSpPr>
        <p:spPr>
          <a:xfrm>
            <a:off x="548640" y="1508760"/>
            <a:ext cx="822960" cy="822960"/>
          </a:xfrm>
          <a:prstGeom prst="ellipse">
            <a:avLst/>
          </a:prstGeom>
          <a:solidFill>
            <a:srgbClr val="6E4C94"/>
          </a:solidFill>
          <a:ln/>
        </p:spPr>
      </p:sp>
      <p:pic>
        <p:nvPicPr>
          <p:cNvPr id="4" name="rigueur-1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145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463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Revues adversariales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9202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Auto-revue faite ; revue croisée par un autre modèle et un collègue à venir</a:t>
            </a:r>
            <a:endParaRPr lang="en-US" sz="1500" dirty="0"/>
          </a:p>
        </p:txBody>
      </p:sp>
      <p:sp>
        <p:nvSpPr>
          <p:cNvPr id="7" name="rigueur-2-cercle"/>
          <p:cNvSpPr/>
          <p:nvPr/>
        </p:nvSpPr>
        <p:spPr>
          <a:xfrm>
            <a:off x="6172200" y="1508760"/>
            <a:ext cx="822960" cy="822960"/>
          </a:xfrm>
          <a:prstGeom prst="ellipse">
            <a:avLst/>
          </a:prstGeom>
          <a:solidFill>
            <a:srgbClr val="2F8F7F"/>
          </a:solidFill>
          <a:ln/>
        </p:spPr>
      </p:sp>
      <p:pic>
        <p:nvPicPr>
          <p:cNvPr id="8" name="rigueur-2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0" y="17145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223760" y="1463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Préenregistrement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19202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Questions, hypothèses, livres de codes figés avant les essais</a:t>
            </a:r>
            <a:endParaRPr lang="en-US" sz="1500" dirty="0"/>
          </a:p>
        </p:txBody>
      </p:sp>
      <p:sp>
        <p:nvSpPr>
          <p:cNvPr id="11" name="rigueur-3-cercle"/>
          <p:cNvSpPr/>
          <p:nvPr/>
        </p:nvSpPr>
        <p:spPr>
          <a:xfrm>
            <a:off x="548640" y="3017520"/>
            <a:ext cx="822960" cy="822960"/>
          </a:xfrm>
          <a:prstGeom prst="ellipse">
            <a:avLst/>
          </a:prstGeom>
          <a:solidFill>
            <a:srgbClr val="6E4C94"/>
          </a:solidFill>
          <a:ln/>
        </p:spPr>
      </p:sp>
      <p:pic>
        <p:nvPicPr>
          <p:cNvPr id="12" name="rigueur-3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2232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2971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Réplication procédurale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34290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 reproduit le protocole des études humaines avant de comparer</a:t>
            </a:r>
            <a:endParaRPr lang="en-US" sz="1500" dirty="0"/>
          </a:p>
        </p:txBody>
      </p:sp>
      <p:sp>
        <p:nvSpPr>
          <p:cNvPr id="15" name="rigueur-4-cercle"/>
          <p:cNvSpPr/>
          <p:nvPr/>
        </p:nvSpPr>
        <p:spPr>
          <a:xfrm>
            <a:off x="6172200" y="3017520"/>
            <a:ext cx="822960" cy="822960"/>
          </a:xfrm>
          <a:prstGeom prst="ellipse">
            <a:avLst/>
          </a:prstGeom>
          <a:solidFill>
            <a:srgbClr val="2F8F7F"/>
          </a:solidFill>
          <a:ln/>
        </p:spPr>
      </p:sp>
      <p:pic>
        <p:nvPicPr>
          <p:cNvPr id="16" name="rigueur-4-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322326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23760" y="2971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Juge indépendant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7223760" y="34290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 modèle qui code n'est jamais celui qui a écrit</a:t>
            </a:r>
            <a:endParaRPr lang="en-US" sz="1500" dirty="0"/>
          </a:p>
        </p:txBody>
      </p:sp>
      <p:sp>
        <p:nvSpPr>
          <p:cNvPr id="19" name="rigueur-5-cercle"/>
          <p:cNvSpPr/>
          <p:nvPr/>
        </p:nvSpPr>
        <p:spPr>
          <a:xfrm>
            <a:off x="548640" y="4526280"/>
            <a:ext cx="822960" cy="822960"/>
          </a:xfrm>
          <a:prstGeom prst="ellipse">
            <a:avLst/>
          </a:prstGeom>
          <a:solidFill>
            <a:srgbClr val="6E4C94"/>
          </a:solidFill>
          <a:ln/>
        </p:spPr>
      </p:sp>
      <p:pic>
        <p:nvPicPr>
          <p:cNvPr id="20" name="rigueur-5-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473202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00200" y="4480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codage humain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1600200" y="49377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15 % du corpus, accord mesuré (kappa ≥ 0,7)</a:t>
            </a:r>
            <a:endParaRPr lang="en-US" sz="1500" dirty="0"/>
          </a:p>
        </p:txBody>
      </p:sp>
      <p:sp>
        <p:nvSpPr>
          <p:cNvPr id="23" name="rigueur-6-cercle"/>
          <p:cNvSpPr/>
          <p:nvPr/>
        </p:nvSpPr>
        <p:spPr>
          <a:xfrm>
            <a:off x="6172200" y="4526280"/>
            <a:ext cx="822960" cy="822960"/>
          </a:xfrm>
          <a:prstGeom prst="ellipse">
            <a:avLst/>
          </a:prstGeom>
          <a:solidFill>
            <a:srgbClr val="2F8F7F"/>
          </a:solidFill>
          <a:ln/>
        </p:spPr>
      </p:sp>
      <p:pic>
        <p:nvPicPr>
          <p:cNvPr id="24" name="rigueur-6-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473202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223760" y="4480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Carnet de conception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7223760" y="49377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Chaque choix du chercheur est consigné et analysé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Deux chantiers de recherche connexes</a:t>
            </a:r>
            <a:endParaRPr lang="en-US" sz="3600" dirty="0"/>
          </a:p>
        </p:txBody>
      </p:sp>
      <p:sp>
        <p:nvSpPr>
          <p:cNvPr id="3" name="chantier-1"/>
          <p:cNvSpPr/>
          <p:nvPr/>
        </p:nvSpPr>
        <p:spPr>
          <a:xfrm>
            <a:off x="548640" y="141732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F2EEF6"/>
          </a:solidFill>
          <a:ln/>
        </p:spPr>
      </p:sp>
      <p:sp>
        <p:nvSpPr>
          <p:cNvPr id="4" name="chantier-1-cercle"/>
          <p:cNvSpPr/>
          <p:nvPr/>
        </p:nvSpPr>
        <p:spPr>
          <a:xfrm>
            <a:off x="868680" y="1691640"/>
            <a:ext cx="914400" cy="914400"/>
          </a:xfrm>
          <a:prstGeom prst="ellipse">
            <a:avLst/>
          </a:prstGeom>
          <a:solidFill>
            <a:srgbClr val="6E4C94"/>
          </a:solidFill>
          <a:ln/>
        </p:spPr>
      </p:sp>
      <p:pic>
        <p:nvPicPr>
          <p:cNvPr id="5" name="chantier-1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7373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Formaliser la spirale du silence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834640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Une théorie classique, cinquante ans de résultats contradictoires. L'agent dérive des textes fondateurs toutes les traductions admissibles en modèles de calcul, puis compare leurs comportements.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166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2"/>
                </a:solidFill>
              </a:rPr>
              <a:t>Sert d'étalon pour le C4</a:t>
            </a:r>
            <a:endParaRPr lang="en-US" sz="1500" dirty="0"/>
          </a:p>
        </p:txBody>
      </p:sp>
      <p:sp>
        <p:nvSpPr>
          <p:cNvPr id="9" name="chantier-2"/>
          <p:cNvSpPr/>
          <p:nvPr/>
        </p:nvSpPr>
        <p:spPr>
          <a:xfrm>
            <a:off x="6172200" y="141732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F2EEF6"/>
          </a:solidFill>
          <a:ln/>
        </p:spPr>
      </p:sp>
      <p:sp>
        <p:nvSpPr>
          <p:cNvPr id="10" name="chantier-2-cercle"/>
          <p:cNvSpPr/>
          <p:nvPr/>
        </p:nvSpPr>
        <p:spPr>
          <a:xfrm>
            <a:off x="6492240" y="1691640"/>
            <a:ext cx="914400" cy="914400"/>
          </a:xfrm>
          <a:prstGeom prst="ellipse">
            <a:avLst/>
          </a:prstGeom>
          <a:solidFill>
            <a:srgbClr val="2F8F7F"/>
          </a:solidFill>
          <a:ln/>
        </p:spPr>
      </p:sp>
      <p:pic>
        <p:nvPicPr>
          <p:cNvPr id="11" name="chantier-2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202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35240" y="17373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numérique et les apprentissages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834640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Une analyse multivers de PISA : toutes les combinaisons de choix d'analyse défendables, pour savoir quelles conclusions résistent. Et un volet « plusieurs analystes artificiels ».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5166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2"/>
                </a:solidFill>
              </a:rPr>
              <a:t>Sciences de l'éducation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La station Le Chonk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Un PC Ubuntu dédié, des logiciels libres, un petit écran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Tous les appels passent par un seul point</a:t>
            </a:r>
            <a:endParaRPr lang="en-US" sz="3600" dirty="0"/>
          </a:p>
        </p:txBody>
      </p:sp>
      <p:sp>
        <p:nvSpPr>
          <p:cNvPr id="3" name="agent-1"/>
          <p:cNvSpPr/>
          <p:nvPr/>
        </p:nvSpPr>
        <p:spPr>
          <a:xfrm>
            <a:off x="548640" y="146304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F2EEF6"/>
          </a:solidFill>
          <a:ln/>
        </p:spPr>
      </p:sp>
      <p:sp>
        <p:nvSpPr>
          <p:cNvPr id="4" name="agent-1-cercle"/>
          <p:cNvSpPr/>
          <p:nvPr/>
        </p:nvSpPr>
        <p:spPr>
          <a:xfrm>
            <a:off x="731520" y="1691640"/>
            <a:ext cx="731520" cy="731520"/>
          </a:xfrm>
          <a:prstGeom prst="ellipse">
            <a:avLst/>
          </a:prstGeom>
          <a:solidFill>
            <a:srgbClr val="6E4C94"/>
          </a:solidFill>
          <a:ln/>
        </p:spPr>
      </p:sp>
      <p:pic>
        <p:nvPicPr>
          <p:cNvPr id="5" name="agent-1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OpenCode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agent de code</a:t>
            </a:r>
            <a:endParaRPr lang="en-US" sz="1400" dirty="0"/>
          </a:p>
        </p:txBody>
      </p:sp>
      <p:sp>
        <p:nvSpPr>
          <p:cNvPr id="8" name="fleche-agent-1"/>
          <p:cNvSpPr/>
          <p:nvPr/>
        </p:nvSpPr>
        <p:spPr>
          <a:xfrm>
            <a:off x="3337560" y="2057400"/>
            <a:ext cx="914400" cy="1463040"/>
          </a:xfrm>
          <a:prstGeom prst="line">
            <a:avLst/>
          </a:prstGeom>
          <a:noFill/>
          <a:ln w="25400">
            <a:solidFill>
              <a:srgbClr val="B9A7C9"/>
            </a:solidFill>
            <a:prstDash val="solid"/>
            <a:tailEnd type="triangle"/>
          </a:ln>
        </p:spPr>
      </p:sp>
      <p:sp>
        <p:nvSpPr>
          <p:cNvPr id="9" name="agent-2"/>
          <p:cNvSpPr/>
          <p:nvPr/>
        </p:nvSpPr>
        <p:spPr>
          <a:xfrm>
            <a:off x="548640" y="292608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F2EEF6"/>
          </a:solidFill>
          <a:ln/>
        </p:spPr>
      </p:sp>
      <p:sp>
        <p:nvSpPr>
          <p:cNvPr id="10" name="agent-2-cercle"/>
          <p:cNvSpPr/>
          <p:nvPr/>
        </p:nvSpPr>
        <p:spPr>
          <a:xfrm>
            <a:off x="731520" y="3154680"/>
            <a:ext cx="731520" cy="731520"/>
          </a:xfrm>
          <a:prstGeom prst="ellipse">
            <a:avLst/>
          </a:prstGeom>
          <a:solidFill>
            <a:srgbClr val="6E4C94"/>
          </a:solidFill>
          <a:ln/>
        </p:spPr>
      </p:sp>
      <p:pic>
        <p:nvPicPr>
          <p:cNvPr id="11" name="agent-2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37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Inspect AI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60020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campagnes</a:t>
            </a:r>
            <a:endParaRPr lang="en-US" sz="1400" dirty="0"/>
          </a:p>
        </p:txBody>
      </p:sp>
      <p:sp>
        <p:nvSpPr>
          <p:cNvPr id="14" name="fleche-agent-2"/>
          <p:cNvSpPr/>
          <p:nvPr/>
        </p:nvSpPr>
        <p:spPr>
          <a:xfrm>
            <a:off x="3337560" y="3520440"/>
            <a:ext cx="914400" cy="0"/>
          </a:xfrm>
          <a:prstGeom prst="line">
            <a:avLst/>
          </a:prstGeom>
          <a:noFill/>
          <a:ln w="25400">
            <a:solidFill>
              <a:srgbClr val="B9A7C9"/>
            </a:solidFill>
            <a:prstDash val="solid"/>
            <a:tailEnd type="triangle"/>
          </a:ln>
        </p:spPr>
      </p:sp>
      <p:sp>
        <p:nvSpPr>
          <p:cNvPr id="15" name="agent-3"/>
          <p:cNvSpPr/>
          <p:nvPr/>
        </p:nvSpPr>
        <p:spPr>
          <a:xfrm>
            <a:off x="548640" y="438912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F2EEF6"/>
          </a:solidFill>
          <a:ln/>
        </p:spPr>
      </p:sp>
      <p:sp>
        <p:nvSpPr>
          <p:cNvPr id="16" name="agent-3-cercle"/>
          <p:cNvSpPr/>
          <p:nvPr/>
        </p:nvSpPr>
        <p:spPr>
          <a:xfrm>
            <a:off x="731520" y="4617720"/>
            <a:ext cx="731520" cy="731520"/>
          </a:xfrm>
          <a:prstGeom prst="ellipse">
            <a:avLst/>
          </a:prstGeom>
          <a:solidFill>
            <a:srgbClr val="6E4C94"/>
          </a:solidFill>
          <a:ln/>
        </p:spPr>
      </p:sp>
      <p:pic>
        <p:nvPicPr>
          <p:cNvPr id="17" name="agent-3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006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4617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Concordia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1600200" y="5029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village</a:t>
            </a:r>
            <a:endParaRPr lang="en-US" sz="1400" dirty="0"/>
          </a:p>
        </p:txBody>
      </p:sp>
      <p:sp>
        <p:nvSpPr>
          <p:cNvPr id="20" name="fleche-agent-3"/>
          <p:cNvSpPr/>
          <p:nvPr/>
        </p:nvSpPr>
        <p:spPr>
          <a:xfrm flipV="1">
            <a:off x="3337560" y="3520440"/>
            <a:ext cx="914400" cy="1463040"/>
          </a:xfrm>
          <a:prstGeom prst="line">
            <a:avLst/>
          </a:prstGeom>
          <a:noFill/>
          <a:ln w="25400">
            <a:solidFill>
              <a:srgbClr val="B9A7C9"/>
            </a:solidFill>
            <a:prstDash val="solid"/>
            <a:tailEnd type="triangle"/>
          </a:ln>
        </p:spPr>
      </p:sp>
      <p:sp>
        <p:nvSpPr>
          <p:cNvPr id="21" name="litellm"/>
          <p:cNvSpPr/>
          <p:nvPr/>
        </p:nvSpPr>
        <p:spPr>
          <a:xfrm>
            <a:off x="4297680" y="2788920"/>
            <a:ext cx="3108960" cy="1463040"/>
          </a:xfrm>
          <a:prstGeom prst="roundRect">
            <a:avLst>
              <a:gd name="adj" fmla="val 7500"/>
            </a:avLst>
          </a:prstGeom>
          <a:solidFill>
            <a:srgbClr val="231A2E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48056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LiteLLM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448056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passe-plat : clés, budgets, journaux</a:t>
            </a:r>
            <a:endParaRPr lang="en-US" sz="1400" dirty="0"/>
          </a:p>
        </p:txBody>
      </p:sp>
      <p:sp>
        <p:nvSpPr>
          <p:cNvPr id="24" name="fleche-sortie-1"/>
          <p:cNvSpPr/>
          <p:nvPr/>
        </p:nvSpPr>
        <p:spPr>
          <a:xfrm flipV="1">
            <a:off x="7452360" y="2057400"/>
            <a:ext cx="914400" cy="1463040"/>
          </a:xfrm>
          <a:prstGeom prst="line">
            <a:avLst/>
          </a:prstGeom>
          <a:noFill/>
          <a:ln w="25400">
            <a:solidFill>
              <a:srgbClr val="B9A7C9"/>
            </a:solidFill>
            <a:prstDash val="solid"/>
            <a:tailEnd type="triangle"/>
          </a:ln>
        </p:spPr>
      </p:sp>
      <p:sp>
        <p:nvSpPr>
          <p:cNvPr id="25" name="sortie-1"/>
          <p:cNvSpPr/>
          <p:nvPr/>
        </p:nvSpPr>
        <p:spPr>
          <a:xfrm>
            <a:off x="8412480" y="1463040"/>
            <a:ext cx="3200400" cy="1188720"/>
          </a:xfrm>
          <a:prstGeom prst="roundRect">
            <a:avLst>
              <a:gd name="adj" fmla="val 9231"/>
            </a:avLst>
          </a:prstGeom>
          <a:solidFill>
            <a:srgbClr val="F2EEF6"/>
          </a:solidFill>
          <a:ln/>
        </p:spPr>
      </p:sp>
      <p:sp>
        <p:nvSpPr>
          <p:cNvPr id="26" name="sortie-1-cercle"/>
          <p:cNvSpPr/>
          <p:nvPr/>
        </p:nvSpPr>
        <p:spPr>
          <a:xfrm>
            <a:off x="8595360" y="1691640"/>
            <a:ext cx="731520" cy="731520"/>
          </a:xfrm>
          <a:prstGeom prst="ellipse">
            <a:avLst/>
          </a:prstGeom>
          <a:solidFill>
            <a:srgbClr val="2F8F7F"/>
          </a:solidFill>
          <a:ln/>
        </p:spPr>
      </p:sp>
      <p:pic>
        <p:nvPicPr>
          <p:cNvPr id="27" name="sortie-1-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187452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464040" y="1645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API Le Chonk et ILaaS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946404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7 modèles</a:t>
            </a:r>
            <a:endParaRPr lang="en-US" sz="1400" dirty="0"/>
          </a:p>
        </p:txBody>
      </p:sp>
      <p:sp>
        <p:nvSpPr>
          <p:cNvPr id="30" name="fleche-sortie-2"/>
          <p:cNvSpPr/>
          <p:nvPr/>
        </p:nvSpPr>
        <p:spPr>
          <a:xfrm>
            <a:off x="7452360" y="3520440"/>
            <a:ext cx="914400" cy="0"/>
          </a:xfrm>
          <a:prstGeom prst="line">
            <a:avLst/>
          </a:prstGeom>
          <a:noFill/>
          <a:ln w="25400">
            <a:solidFill>
              <a:srgbClr val="B9A7C9"/>
            </a:solidFill>
            <a:prstDash val="solid"/>
            <a:tailEnd type="triangle"/>
          </a:ln>
        </p:spPr>
      </p:sp>
      <p:sp>
        <p:nvSpPr>
          <p:cNvPr id="31" name="sortie-2"/>
          <p:cNvSpPr/>
          <p:nvPr/>
        </p:nvSpPr>
        <p:spPr>
          <a:xfrm>
            <a:off x="8412480" y="2926080"/>
            <a:ext cx="3200400" cy="1188720"/>
          </a:xfrm>
          <a:prstGeom prst="roundRect">
            <a:avLst>
              <a:gd name="adj" fmla="val 9231"/>
            </a:avLst>
          </a:prstGeom>
          <a:solidFill>
            <a:srgbClr val="F2EEF6"/>
          </a:solidFill>
          <a:ln/>
        </p:spPr>
      </p:sp>
      <p:sp>
        <p:nvSpPr>
          <p:cNvPr id="32" name="sortie-2-cercle"/>
          <p:cNvSpPr/>
          <p:nvPr/>
        </p:nvSpPr>
        <p:spPr>
          <a:xfrm>
            <a:off x="8595360" y="3154680"/>
            <a:ext cx="731520" cy="731520"/>
          </a:xfrm>
          <a:prstGeom prst="ellipse">
            <a:avLst/>
          </a:prstGeom>
          <a:solidFill>
            <a:srgbClr val="2F8F7F"/>
          </a:solidFill>
          <a:ln/>
        </p:spPr>
      </p:sp>
      <p:pic>
        <p:nvPicPr>
          <p:cNvPr id="33" name="sortie-2-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33756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464040" y="3108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Langfuse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946404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traces et coûts</a:t>
            </a:r>
            <a:endParaRPr lang="en-US" sz="1400" dirty="0"/>
          </a:p>
        </p:txBody>
      </p:sp>
      <p:sp>
        <p:nvSpPr>
          <p:cNvPr id="36" name="fleche-sortie-3"/>
          <p:cNvSpPr/>
          <p:nvPr/>
        </p:nvSpPr>
        <p:spPr>
          <a:xfrm>
            <a:off x="7452360" y="3520440"/>
            <a:ext cx="914400" cy="1463040"/>
          </a:xfrm>
          <a:prstGeom prst="line">
            <a:avLst/>
          </a:prstGeom>
          <a:noFill/>
          <a:ln w="25400">
            <a:solidFill>
              <a:srgbClr val="B9A7C9"/>
            </a:solidFill>
            <a:prstDash val="solid"/>
            <a:tailEnd type="triangle"/>
          </a:ln>
        </p:spPr>
      </p:sp>
      <p:sp>
        <p:nvSpPr>
          <p:cNvPr id="37" name="sortie-3"/>
          <p:cNvSpPr/>
          <p:nvPr/>
        </p:nvSpPr>
        <p:spPr>
          <a:xfrm>
            <a:off x="8412480" y="4389120"/>
            <a:ext cx="3200400" cy="1188720"/>
          </a:xfrm>
          <a:prstGeom prst="roundRect">
            <a:avLst>
              <a:gd name="adj" fmla="val 9231"/>
            </a:avLst>
          </a:prstGeom>
          <a:solidFill>
            <a:srgbClr val="E8A33D"/>
          </a:solidFill>
          <a:ln/>
        </p:spPr>
      </p:sp>
      <p:sp>
        <p:nvSpPr>
          <p:cNvPr id="38" name="sortie-3-cercle"/>
          <p:cNvSpPr/>
          <p:nvPr/>
        </p:nvSpPr>
        <p:spPr>
          <a:xfrm>
            <a:off x="8595360" y="4617720"/>
            <a:ext cx="731520" cy="731520"/>
          </a:xfrm>
          <a:prstGeom prst="ellipse">
            <a:avLst/>
          </a:prstGeom>
          <a:solidFill>
            <a:srgbClr val="231A2E"/>
          </a:solidFill>
          <a:ln/>
        </p:spPr>
      </p:sp>
      <p:pic>
        <p:nvPicPr>
          <p:cNvPr id="39" name="sortie-3-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4800600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9464040" y="4572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Bureau des agents</a:t>
            </a:r>
            <a:endParaRPr lang="en-US" sz="1600" dirty="0"/>
          </a:p>
        </p:txBody>
      </p:sp>
      <p:sp>
        <p:nvSpPr>
          <p:cNvPr id="41" name="Text 33"/>
          <p:cNvSpPr txBox="1"/>
          <p:nvPr/>
        </p:nvSpPr>
        <p:spPr>
          <a:xfrm>
            <a:off x="9464040" y="5074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petit écran</a:t>
            </a:r>
            <a:endParaRPr lang="en-US" sz="1400" dirty="0"/>
          </a:p>
        </p:txBody>
      </p:sp>
      <p:sp>
        <p:nvSpPr>
          <p:cNvPr id="42" name="Text 34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Rien n'est exposé sur Internet · le code des agents tourne dans des conteneurs Docker · sauvegardes chiffrées chaque nuit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Le bureau des agents</a:t>
            </a:r>
            <a:endParaRPr lang="en-US" sz="3600" dirty="0"/>
          </a:p>
        </p:txBody>
      </p:sp>
      <p:sp>
        <p:nvSpPr>
          <p:cNvPr id="3" name="bureau-scene"/>
          <p:cNvSpPr/>
          <p:nvPr/>
        </p:nvSpPr>
        <p:spPr>
          <a:xfrm>
            <a:off x="548640" y="1371600"/>
            <a:ext cx="6949440" cy="4663440"/>
          </a:xfrm>
          <a:prstGeom prst="roundRect">
            <a:avLst>
              <a:gd name="adj" fmla="val 2353"/>
            </a:avLst>
          </a:prstGeom>
          <a:solidFill>
            <a:srgbClr val="231A2E"/>
          </a:solidFill>
          <a:ln/>
        </p:spPr>
      </p:sp>
      <p:sp>
        <p:nvSpPr>
          <p:cNvPr id="4" name="mur-ecran"/>
          <p:cNvSpPr/>
          <p:nvPr/>
        </p:nvSpPr>
        <p:spPr>
          <a:xfrm>
            <a:off x="2377440" y="1600200"/>
            <a:ext cx="3291840" cy="914400"/>
          </a:xfrm>
          <a:prstGeom prst="rect">
            <a:avLst/>
          </a:prstGeom>
          <a:solidFill>
            <a:srgbClr val="5A4A6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468880" y="1645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12 840 tokens · 3 essais · 0,42 $</a:t>
            </a:r>
            <a:endParaRPr lang="en-US" sz="1400" dirty="0"/>
          </a:p>
        </p:txBody>
      </p:sp>
      <p:sp>
        <p:nvSpPr>
          <p:cNvPr id="6" name="perso-tete-1"/>
          <p:cNvSpPr/>
          <p:nvPr/>
        </p:nvSpPr>
        <p:spPr>
          <a:xfrm>
            <a:off x="1417320" y="3474720"/>
            <a:ext cx="548640" cy="548640"/>
          </a:xfrm>
          <a:prstGeom prst="ellipse">
            <a:avLst/>
          </a:prstGeom>
          <a:solidFill>
            <a:srgbClr val="B9A7C9"/>
          </a:solidFill>
          <a:ln/>
        </p:spPr>
      </p:sp>
      <p:sp>
        <p:nvSpPr>
          <p:cNvPr id="7" name="perso-corps-1"/>
          <p:cNvSpPr/>
          <p:nvPr/>
        </p:nvSpPr>
        <p:spPr>
          <a:xfrm>
            <a:off x="1280160" y="4023360"/>
            <a:ext cx="822960" cy="685800"/>
          </a:xfrm>
          <a:prstGeom prst="roundRect">
            <a:avLst>
              <a:gd name="adj" fmla="val 20000"/>
            </a:avLst>
          </a:prstGeom>
          <a:solidFill>
            <a:srgbClr val="2F8F7F"/>
          </a:solidFill>
          <a:ln/>
        </p:spPr>
      </p:sp>
      <p:sp>
        <p:nvSpPr>
          <p:cNvPr id="8" name="pupitre-1"/>
          <p:cNvSpPr/>
          <p:nvPr/>
        </p:nvSpPr>
        <p:spPr>
          <a:xfrm>
            <a:off x="914400" y="4617720"/>
            <a:ext cx="1554480" cy="320040"/>
          </a:xfrm>
          <a:prstGeom prst="rect">
            <a:avLst/>
          </a:prstGeom>
          <a:solidFill>
            <a:srgbClr val="8A8494"/>
          </a:solidFill>
          <a:ln/>
        </p:spPr>
      </p:sp>
      <p:sp>
        <p:nvSpPr>
          <p:cNvPr id="9" name="ecran-poste-1"/>
          <p:cNvSpPr/>
          <p:nvPr/>
        </p:nvSpPr>
        <p:spPr>
          <a:xfrm>
            <a:off x="1920240" y="4251960"/>
            <a:ext cx="457200" cy="365760"/>
          </a:xfrm>
          <a:prstGeom prst="rect">
            <a:avLst/>
          </a:prstGeom>
          <a:solidFill>
            <a:srgbClr val="F2EEF6"/>
          </a:solidFill>
          <a:ln/>
        </p:spPr>
      </p:sp>
      <p:sp>
        <p:nvSpPr>
          <p:cNvPr id="10" name="bulle-poste-1"/>
          <p:cNvSpPr/>
          <p:nvPr/>
        </p:nvSpPr>
        <p:spPr>
          <a:xfrm>
            <a:off x="777240" y="2606040"/>
            <a:ext cx="17830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060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écrit</a:t>
            </a:r>
            <a:endParaRPr lang="en-US" sz="1400" dirty="0"/>
          </a:p>
        </p:txBody>
      </p:sp>
      <p:sp>
        <p:nvSpPr>
          <p:cNvPr id="12" name="perso-tete-2"/>
          <p:cNvSpPr/>
          <p:nvPr/>
        </p:nvSpPr>
        <p:spPr>
          <a:xfrm>
            <a:off x="3703320" y="3474720"/>
            <a:ext cx="548640" cy="548640"/>
          </a:xfrm>
          <a:prstGeom prst="ellipse">
            <a:avLst/>
          </a:prstGeom>
          <a:solidFill>
            <a:srgbClr val="B9A7C9"/>
          </a:solidFill>
          <a:ln/>
        </p:spPr>
      </p:sp>
      <p:sp>
        <p:nvSpPr>
          <p:cNvPr id="13" name="perso-corps-2"/>
          <p:cNvSpPr/>
          <p:nvPr/>
        </p:nvSpPr>
        <p:spPr>
          <a:xfrm>
            <a:off x="3566160" y="4023360"/>
            <a:ext cx="822960" cy="685800"/>
          </a:xfrm>
          <a:prstGeom prst="roundRect">
            <a:avLst>
              <a:gd name="adj" fmla="val 20000"/>
            </a:avLst>
          </a:prstGeom>
          <a:solidFill>
            <a:srgbClr val="6E4C94"/>
          </a:solidFill>
          <a:ln/>
        </p:spPr>
      </p:sp>
      <p:sp>
        <p:nvSpPr>
          <p:cNvPr id="14" name="pupitre-2"/>
          <p:cNvSpPr/>
          <p:nvPr/>
        </p:nvSpPr>
        <p:spPr>
          <a:xfrm>
            <a:off x="3200400" y="4617720"/>
            <a:ext cx="1554480" cy="320040"/>
          </a:xfrm>
          <a:prstGeom prst="rect">
            <a:avLst/>
          </a:prstGeom>
          <a:solidFill>
            <a:srgbClr val="8A8494"/>
          </a:solidFill>
          <a:ln/>
        </p:spPr>
      </p:sp>
      <p:sp>
        <p:nvSpPr>
          <p:cNvPr id="15" name="ecran-poste-2"/>
          <p:cNvSpPr/>
          <p:nvPr/>
        </p:nvSpPr>
        <p:spPr>
          <a:xfrm>
            <a:off x="4206240" y="4251960"/>
            <a:ext cx="457200" cy="365760"/>
          </a:xfrm>
          <a:prstGeom prst="rect">
            <a:avLst/>
          </a:prstGeom>
          <a:solidFill>
            <a:srgbClr val="F2EEF6"/>
          </a:solidFill>
          <a:ln/>
        </p:spPr>
      </p:sp>
      <p:sp>
        <p:nvSpPr>
          <p:cNvPr id="16" name="bulle-poste-2"/>
          <p:cNvSpPr/>
          <p:nvPr/>
        </p:nvSpPr>
        <p:spPr>
          <a:xfrm>
            <a:off x="3063240" y="2606040"/>
            <a:ext cx="17830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63240" y="26060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réfléchit</a:t>
            </a:r>
            <a:endParaRPr lang="en-US" sz="1400" dirty="0"/>
          </a:p>
        </p:txBody>
      </p:sp>
      <p:sp>
        <p:nvSpPr>
          <p:cNvPr id="18" name="perso-tete-3"/>
          <p:cNvSpPr/>
          <p:nvPr/>
        </p:nvSpPr>
        <p:spPr>
          <a:xfrm>
            <a:off x="5989320" y="3474720"/>
            <a:ext cx="548640" cy="548640"/>
          </a:xfrm>
          <a:prstGeom prst="ellipse">
            <a:avLst/>
          </a:prstGeom>
          <a:solidFill>
            <a:srgbClr val="B9A7C9"/>
          </a:solidFill>
          <a:ln/>
        </p:spPr>
      </p:sp>
      <p:sp>
        <p:nvSpPr>
          <p:cNvPr id="19" name="perso-corps-3"/>
          <p:cNvSpPr/>
          <p:nvPr/>
        </p:nvSpPr>
        <p:spPr>
          <a:xfrm>
            <a:off x="5852160" y="4023360"/>
            <a:ext cx="822960" cy="685800"/>
          </a:xfrm>
          <a:prstGeom prst="roundRect">
            <a:avLst>
              <a:gd name="adj" fmla="val 20000"/>
            </a:avLst>
          </a:prstGeom>
          <a:solidFill>
            <a:srgbClr val="8A8494"/>
          </a:solidFill>
          <a:ln/>
        </p:spPr>
      </p:sp>
      <p:sp>
        <p:nvSpPr>
          <p:cNvPr id="20" name="pupitre-3"/>
          <p:cNvSpPr/>
          <p:nvPr/>
        </p:nvSpPr>
        <p:spPr>
          <a:xfrm>
            <a:off x="5486400" y="4617720"/>
            <a:ext cx="1554480" cy="320040"/>
          </a:xfrm>
          <a:prstGeom prst="rect">
            <a:avLst/>
          </a:prstGeom>
          <a:solidFill>
            <a:srgbClr val="8A8494"/>
          </a:solidFill>
          <a:ln/>
        </p:spPr>
      </p:sp>
      <p:sp>
        <p:nvSpPr>
          <p:cNvPr id="21" name="ecran-poste-3"/>
          <p:cNvSpPr/>
          <p:nvPr/>
        </p:nvSpPr>
        <p:spPr>
          <a:xfrm>
            <a:off x="6492240" y="4251960"/>
            <a:ext cx="457200" cy="365760"/>
          </a:xfrm>
          <a:prstGeom prst="rect">
            <a:avLst/>
          </a:prstGeom>
          <a:solidFill>
            <a:srgbClr val="F2EEF6"/>
          </a:solidFill>
          <a:ln/>
        </p:spPr>
      </p:sp>
      <p:sp>
        <p:nvSpPr>
          <p:cNvPr id="22" name="bulle-poste-3"/>
          <p:cNvSpPr/>
          <p:nvPr/>
        </p:nvSpPr>
        <p:spPr>
          <a:xfrm>
            <a:off x="5349240" y="2606040"/>
            <a:ext cx="17830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349240" y="26060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attend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Illustration de principe</a:t>
            </a:r>
            <a:endParaRPr lang="en-US" sz="1100" dirty="0"/>
          </a:p>
        </p:txBody>
      </p:sp>
      <p:sp>
        <p:nvSpPr>
          <p:cNvPr id="25" name="bureau-point-1-cercle"/>
          <p:cNvSpPr/>
          <p:nvPr/>
        </p:nvSpPr>
        <p:spPr>
          <a:xfrm>
            <a:off x="7863840" y="14630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6" name="bureau-point-1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8150" y="1657350"/>
            <a:ext cx="388620" cy="3886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823960" y="14630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personnage par agent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823960" y="190195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Il tape, réfléchit, exécute ou attend, avec une bulle d'extrait</a:t>
            </a:r>
            <a:endParaRPr lang="en-US" sz="1400" dirty="0"/>
          </a:p>
        </p:txBody>
      </p:sp>
      <p:sp>
        <p:nvSpPr>
          <p:cNvPr id="29" name="bureau-point-2-cercle"/>
          <p:cNvSpPr/>
          <p:nvPr/>
        </p:nvSpPr>
        <p:spPr>
          <a:xfrm>
            <a:off x="7863840" y="297180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0" name="bureau-point-2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150" y="3166110"/>
            <a:ext cx="388620" cy="38862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8823960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carte de Saint-Aubert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8823960" y="341071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Pendant les simulations, les habitants vont au café, au marché</a:t>
            </a:r>
            <a:endParaRPr lang="en-US" sz="1400" dirty="0"/>
          </a:p>
        </p:txBody>
      </p:sp>
      <p:sp>
        <p:nvSpPr>
          <p:cNvPr id="33" name="bureau-point-3-cercle"/>
          <p:cNvSpPr/>
          <p:nvPr/>
        </p:nvSpPr>
        <p:spPr>
          <a:xfrm>
            <a:off x="7863840" y="448056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4" name="bureau-point-3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150" y="4674870"/>
            <a:ext cx="388620" cy="38862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823960" y="4480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petit écran en kiosque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8823960" y="491947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Écran HDMI de 7 à 10 pouces, allumé en permanence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Cinq jours pour monter la station</a:t>
            </a:r>
            <a:endParaRPr lang="en-US" sz="3600" dirty="0"/>
          </a:p>
        </p:txBody>
      </p:sp>
      <p:sp>
        <p:nvSpPr>
          <p:cNvPr id="3" name="jour-1"/>
          <p:cNvSpPr/>
          <p:nvPr/>
        </p:nvSpPr>
        <p:spPr>
          <a:xfrm>
            <a:off x="548640" y="1463040"/>
            <a:ext cx="2084832" cy="2926080"/>
          </a:xfrm>
          <a:prstGeom prst="roundRect">
            <a:avLst>
              <a:gd name="adj" fmla="val 5263"/>
            </a:avLst>
          </a:prstGeom>
          <a:solidFill>
            <a:srgbClr val="F2EE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Système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175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Ubuntu Desktop 24.04 LTS, mises à jour, Docker</a:t>
            </a:r>
            <a:endParaRPr lang="en-US" sz="1400" dirty="0"/>
          </a:p>
        </p:txBody>
      </p:sp>
      <p:sp>
        <p:nvSpPr>
          <p:cNvPr id="7" name="jour-2"/>
          <p:cNvSpPr/>
          <p:nvPr/>
        </p:nvSpPr>
        <p:spPr>
          <a:xfrm>
            <a:off x="2816352" y="1463040"/>
            <a:ext cx="2084832" cy="2926080"/>
          </a:xfrm>
          <a:prstGeom prst="roundRect">
            <a:avLst>
              <a:gd name="adj" fmla="val 5263"/>
            </a:avLst>
          </a:prstGeom>
          <a:solidFill>
            <a:srgbClr val="F2EE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99232" y="1645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999232" y="2331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Passe-plat et traces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999232" y="30175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LiteLLM, Langfuse, clés par usage</a:t>
            </a:r>
            <a:endParaRPr lang="en-US" sz="1400" dirty="0"/>
          </a:p>
        </p:txBody>
      </p:sp>
      <p:sp>
        <p:nvSpPr>
          <p:cNvPr id="11" name="jour-3"/>
          <p:cNvSpPr/>
          <p:nvPr/>
        </p:nvSpPr>
        <p:spPr>
          <a:xfrm>
            <a:off x="5084064" y="1463040"/>
            <a:ext cx="2084832" cy="2926080"/>
          </a:xfrm>
          <a:prstGeom prst="roundRect">
            <a:avLst>
              <a:gd name="adj" fmla="val 5263"/>
            </a:avLst>
          </a:prstGeom>
          <a:solidFill>
            <a:srgbClr val="F2EE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66944" y="1645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5266944" y="2331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Agents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266944" y="30175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OpenCode, Python et uv, Inspect, Concordia</a:t>
            </a:r>
            <a:endParaRPr lang="en-US" sz="1400" dirty="0"/>
          </a:p>
        </p:txBody>
      </p:sp>
      <p:sp>
        <p:nvSpPr>
          <p:cNvPr id="15" name="jour-4"/>
          <p:cNvSpPr/>
          <p:nvPr/>
        </p:nvSpPr>
        <p:spPr>
          <a:xfrm>
            <a:off x="7351776" y="1463040"/>
            <a:ext cx="2084832" cy="2926080"/>
          </a:xfrm>
          <a:prstGeom prst="roundRect">
            <a:avLst>
              <a:gd name="adj" fmla="val 5263"/>
            </a:avLst>
          </a:prstGeom>
          <a:solidFill>
            <a:srgbClr val="F2EE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34656" y="1645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J4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7534656" y="2331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Sûreté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534656" y="30175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Sauvegardes chiffrées, recette en 9 points</a:t>
            </a:r>
            <a:endParaRPr lang="en-US" sz="1400" dirty="0"/>
          </a:p>
        </p:txBody>
      </p:sp>
      <p:sp>
        <p:nvSpPr>
          <p:cNvPr id="19" name="jour-5"/>
          <p:cNvSpPr/>
          <p:nvPr/>
        </p:nvSpPr>
        <p:spPr>
          <a:xfrm>
            <a:off x="9619488" y="1463040"/>
            <a:ext cx="2084832" cy="2926080"/>
          </a:xfrm>
          <a:prstGeom prst="roundRect">
            <a:avLst>
              <a:gd name="adj" fmla="val 5263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02368" y="1645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J5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2331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Vitrine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802368" y="30175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Bureau v0 et petit écran en kiosque</a:t>
            </a:r>
            <a:endParaRPr lang="en-US" sz="1400" dirty="0"/>
          </a:p>
        </p:txBody>
      </p:sp>
      <p:sp>
        <p:nvSpPr>
          <p:cNvPr id="23" name="cout-encart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231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7091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470916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 logiciels : tout est libre ou gratuit. Matériel conseillé : 8 cœurs, 32 Go de mémoire, SSD de 1 To, un petit écran (50 à 90 €) et un disque de sauvegarde.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Feuille de route</a:t>
            </a:r>
            <a:endParaRPr lang="en-US" sz="3600" dirty="0"/>
          </a:p>
        </p:txBody>
      </p:sp>
      <p:sp>
        <p:nvSpPr>
          <p:cNvPr id="3" name="frise"/>
          <p:cNvSpPr/>
          <p:nvPr/>
        </p:nvSpPr>
        <p:spPr>
          <a:xfrm>
            <a:off x="822960" y="2514600"/>
            <a:ext cx="10515600" cy="0"/>
          </a:xfrm>
          <a:prstGeom prst="line">
            <a:avLst/>
          </a:prstGeom>
          <a:noFill/>
          <a:ln w="38100">
            <a:solidFill>
              <a:srgbClr val="B9A7C9"/>
            </a:solidFill>
            <a:prstDash val="solid"/>
          </a:ln>
        </p:spPr>
      </p:sp>
      <p:sp>
        <p:nvSpPr>
          <p:cNvPr id="4" name="jalon-1"/>
          <p:cNvSpPr/>
          <p:nvPr/>
        </p:nvSpPr>
        <p:spPr>
          <a:xfrm>
            <a:off x="1325880" y="2240280"/>
            <a:ext cx="548640" cy="548640"/>
          </a:xfrm>
          <a:prstGeom prst="ellipse">
            <a:avLst/>
          </a:prstGeom>
          <a:solidFill>
            <a:srgbClr val="6E4C9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Oct. 2026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Conception, revue adversariale, version finale de Le Chonk le 26</a:t>
            </a:r>
            <a:endParaRPr lang="en-US" sz="1400" dirty="0"/>
          </a:p>
        </p:txBody>
      </p:sp>
      <p:sp>
        <p:nvSpPr>
          <p:cNvPr id="7" name="jalon-2"/>
          <p:cNvSpPr/>
          <p:nvPr/>
        </p:nvSpPr>
        <p:spPr>
          <a:xfrm>
            <a:off x="3593592" y="2240280"/>
            <a:ext cx="548640" cy="548640"/>
          </a:xfrm>
          <a:prstGeom prst="ellipse">
            <a:avLst/>
          </a:prstGeom>
          <a:solidFill>
            <a:srgbClr val="6E4C9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16352" y="1417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Nov. 2026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816352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Station montée, C0 et mini-village sur ILaaS</a:t>
            </a:r>
            <a:endParaRPr lang="en-US" sz="1400" dirty="0"/>
          </a:p>
        </p:txBody>
      </p:sp>
      <p:sp>
        <p:nvSpPr>
          <p:cNvPr id="10" name="jalon-3"/>
          <p:cNvSpPr/>
          <p:nvPr/>
        </p:nvSpPr>
        <p:spPr>
          <a:xfrm>
            <a:off x="5861304" y="2240280"/>
            <a:ext cx="548640" cy="548640"/>
          </a:xfrm>
          <a:prstGeom prst="ellipse">
            <a:avLst/>
          </a:prstGeom>
          <a:solidFill>
            <a:srgbClr val="6E4C9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4064" y="1417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Déc. 2026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C1 à C3 : rumeur, convention, contrôles</a:t>
            </a:r>
            <a:endParaRPr lang="en-US" sz="1400" dirty="0"/>
          </a:p>
        </p:txBody>
      </p:sp>
      <p:sp>
        <p:nvSpPr>
          <p:cNvPr id="13" name="jalon-4"/>
          <p:cNvSpPr/>
          <p:nvPr/>
        </p:nvSpPr>
        <p:spPr>
          <a:xfrm>
            <a:off x="8129016" y="2240280"/>
            <a:ext cx="548640" cy="548640"/>
          </a:xfrm>
          <a:prstGeom prst="ellipse">
            <a:avLst/>
          </a:prstGeom>
          <a:solidFill>
            <a:srgbClr val="E8A3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51776" y="1417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Janv. et fév. 2027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51776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C4 : priorités 1 et 2</a:t>
            </a:r>
            <a:endParaRPr lang="en-US" sz="1400" dirty="0"/>
          </a:p>
        </p:txBody>
      </p:sp>
      <p:sp>
        <p:nvSpPr>
          <p:cNvPr id="16" name="jalon-5"/>
          <p:cNvSpPr/>
          <p:nvPr/>
        </p:nvSpPr>
        <p:spPr>
          <a:xfrm>
            <a:off x="10396728" y="2240280"/>
            <a:ext cx="548640" cy="548640"/>
          </a:xfrm>
          <a:prstGeom prst="ellipse">
            <a:avLst/>
          </a:prstGeom>
          <a:solidFill>
            <a:srgbClr val="6E4C9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19488" y="1417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Printemps 2027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619488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Analyses, rédaction, retour d'expérience</a:t>
            </a:r>
            <a:endParaRPr lang="en-US" sz="1400" dirty="0"/>
          </a:p>
        </p:txBody>
      </p:sp>
      <p:sp>
        <p:nvSpPr>
          <p:cNvPr id="19" name="precaution-encart"/>
          <p:cNvSpPr/>
          <p:nvPr/>
        </p:nvSpPr>
        <p:spPr>
          <a:xfrm>
            <a:off x="548640" y="466344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F2EEF6"/>
          </a:solidFill>
          <a:ln/>
        </p:spPr>
      </p:sp>
      <p:sp>
        <p:nvSpPr>
          <p:cNvPr id="20" name="precaution-cercle"/>
          <p:cNvSpPr/>
          <p:nvPr/>
        </p:nvSpPr>
        <p:spPr>
          <a:xfrm>
            <a:off x="822960" y="4873752"/>
            <a:ext cx="914400" cy="914400"/>
          </a:xfrm>
          <a:prstGeom prst="ellipse">
            <a:avLst/>
          </a:prstGeom>
          <a:solidFill>
            <a:srgbClr val="D2564E"/>
          </a:solidFill>
          <a:ln/>
        </p:spPr>
      </p:sp>
      <p:pic>
        <p:nvPicPr>
          <p:cNvPr id="21" name="precaution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5102352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965960" y="4663440"/>
            <a:ext cx="9418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Aucune mesure de préférence partisane ni d'intention de vote ; publication cadrée comme méthodologique, après la campagne présidentielle de 2027.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Prochaines étapes</a:t>
            </a:r>
            <a:endParaRPr lang="en-US" sz="2200" dirty="0"/>
          </a:p>
        </p:txBody>
      </p:sp>
      <p:sp>
        <p:nvSpPr>
          <p:cNvPr id="3" name="suite-1"/>
          <p:cNvSpPr/>
          <p:nvPr/>
        </p:nvSpPr>
        <p:spPr>
          <a:xfrm>
            <a:off x="731520" y="155448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5A4A6E"/>
          </a:solidFill>
          <a:ln/>
        </p:spPr>
      </p:sp>
      <p:sp>
        <p:nvSpPr>
          <p:cNvPr id="4" name="suite-1-cercle"/>
          <p:cNvSpPr/>
          <p:nvPr/>
        </p:nvSpPr>
        <p:spPr>
          <a:xfrm>
            <a:off x="1005840" y="182880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suite-1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20459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Revue n° 2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3383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Faire réfuter le dispositif par un autre modèle et par un collègue de SIC</a:t>
            </a:r>
            <a:endParaRPr lang="en-US" sz="1500" dirty="0"/>
          </a:p>
        </p:txBody>
      </p:sp>
      <p:sp>
        <p:nvSpPr>
          <p:cNvPr id="8" name="suite-2"/>
          <p:cNvSpPr/>
          <p:nvPr/>
        </p:nvSpPr>
        <p:spPr>
          <a:xfrm>
            <a:off x="4343400" y="155448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5A4A6E"/>
          </a:solidFill>
          <a:ln/>
        </p:spPr>
      </p:sp>
      <p:sp>
        <p:nvSpPr>
          <p:cNvPr id="9" name="suite-2-cercle"/>
          <p:cNvSpPr/>
          <p:nvPr/>
        </p:nvSpPr>
        <p:spPr>
          <a:xfrm>
            <a:off x="4617720" y="182880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suite-2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04597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 les sources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383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Le livre témoin S0 et l'historien de contrôle S3</a:t>
            </a:r>
            <a:endParaRPr lang="en-US" sz="1500" dirty="0"/>
          </a:p>
        </p:txBody>
      </p:sp>
      <p:sp>
        <p:nvSpPr>
          <p:cNvPr id="13" name="suite-3"/>
          <p:cNvSpPr/>
          <p:nvPr/>
        </p:nvSpPr>
        <p:spPr>
          <a:xfrm>
            <a:off x="7955280" y="155448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5A4A6E"/>
          </a:solidFill>
          <a:ln/>
        </p:spPr>
      </p:sp>
      <p:sp>
        <p:nvSpPr>
          <p:cNvPr id="14" name="suite-3-cercle"/>
          <p:cNvSpPr/>
          <p:nvPr/>
        </p:nvSpPr>
        <p:spPr>
          <a:xfrm>
            <a:off x="8229600" y="182880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suite-3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204597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Monter la station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0" y="3383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Les cinq jours de mise en place, puis le bureau v0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49834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l'on saura à la fin : </a:t>
            </a:r>
            <a:pPr indent="0" marL="0">
              <a:buNone/>
            </a:pPr>
            <a:r>
              <a:rPr lang="en-US" sz="20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qu'une machine qui écrit toutes les voix fait d'un savoir, et d'où viennent ses silences.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re et taire">
  <a:themeElements>
    <a:clrScheme name="Dire et taire">
      <a:dk1>
        <a:srgbClr val="231A2E"/>
      </a:dk1>
      <a:lt1>
        <a:srgbClr val="FFFFFF"/>
      </a:lt1>
      <a:dk2>
        <a:srgbClr val="5A4A6E"/>
      </a:dk2>
      <a:lt2>
        <a:srgbClr val="F2EEF6"/>
      </a:lt2>
      <a:accent1>
        <a:srgbClr val="E8A33D"/>
      </a:accent1>
      <a:accent2>
        <a:srgbClr val="6E4C94"/>
      </a:accent2>
      <a:accent3>
        <a:srgbClr val="2F8F7F"/>
      </a:accent3>
      <a:accent4>
        <a:srgbClr val="D2564E"/>
      </a:accent4>
      <a:accent5>
        <a:srgbClr val="B9A7C9"/>
      </a:accent5>
      <a:accent6>
        <a:srgbClr val="8A8494"/>
      </a:accent6>
      <a:hlink>
        <a:srgbClr val="6E4C94"/>
      </a:hlink>
      <a:folHlink>
        <a:srgbClr val="5A4A6E"/>
      </a:folHlink>
    </a:clrScheme>
    <a:fontScheme name="Dire et tai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 et taire : un village d'agents génératifs</dc:title>
  <dc:subject>PptxGenJS Presentation</dc:subject>
  <dc:creator>JEDI-OpenLab</dc:creator>
  <cp:lastModifiedBy>JEDI-OpenLab</cp:lastModifiedBy>
  <cp:revision>1</cp:revision>
  <dcterms:created xsi:type="dcterms:W3CDTF">2026-10-15T11:22:13Z</dcterms:created>
  <dcterms:modified xsi:type="dcterms:W3CDTF">2026-10-15T11:22:13Z</dcterms:modified>
</cp:coreProperties>
</file>